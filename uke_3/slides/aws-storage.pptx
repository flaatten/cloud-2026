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  <p:sldMasterId id="2147483650" r:id="rId2"/>
    <p:sldMasterId id="2147483651" r:id="rId3"/>
    <p:sldMasterId id="2147483652" r:id="rId4"/>
    <p:sldMasterId id="2147483653" r:id="rId5"/>
    <p:sldMasterId id="2147483654" r:id="rId6"/>
    <p:sldMasterId id="2147483655" r:id="rId7"/>
    <p:sldMasterId id="2147483656" r:id="rId8"/>
    <p:sldMasterId id="2147483657" r:id="rId9"/>
    <p:sldMasterId id="2147483659" r:id="rId10"/>
    <p:sldMasterId id="2147483660" r:id="rId11"/>
    <p:sldMasterId id="2147483701" r:id="rId12"/>
  </p:sldMasterIdLst>
  <p:sldIdLst>
    <p:sldId id="257" r:id="rId13"/>
    <p:sldId id="258" r:id="rId14"/>
    <p:sldId id="259" r:id="rId15"/>
    <p:sldId id="260" r:id="rId16"/>
    <p:sldId id="261" r:id="rId17"/>
    <p:sldId id="274" r:id="rId18"/>
    <p:sldId id="272" r:id="rId19"/>
    <p:sldId id="275" r:id="rId20"/>
    <p:sldId id="263" r:id="rId21"/>
    <p:sldId id="264" r:id="rId22"/>
    <p:sldId id="265" r:id="rId23"/>
    <p:sldId id="267" r:id="rId24"/>
    <p:sldId id="273" r:id="rId25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5"/>
    <p:restoredTop sz="94719"/>
  </p:normalViewPr>
  <p:slideViewPr>
    <p:cSldViewPr snapToGrid="0">
      <p:cViewPr varScale="1">
        <p:scale>
          <a:sx n="152" d="100"/>
          <a:sy n="152" d="100"/>
        </p:scale>
        <p:origin x="5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605281"/>
            <a:ext cx="6400800" cy="319024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6540" y="5181601"/>
            <a:ext cx="6400800" cy="695960"/>
          </a:xfrm>
        </p:spPr>
        <p:txBody>
          <a:bodyPr anchor="ctr"/>
          <a:lstStyle>
            <a:lvl1pPr marL="0" indent="0" algn="l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CB9B453-B113-191E-39AE-5F46524E58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524000" y="1082043"/>
            <a:ext cx="1391920" cy="467195"/>
          </a:xfrm>
        </p:spPr>
        <p:txBody>
          <a:bodyPr anchor="ctr"/>
          <a:lstStyle>
            <a:lvl1pPr marL="120648" indent="0" algn="ctr">
              <a:buNone/>
              <a:defRPr/>
            </a:lvl1pPr>
          </a:lstStyle>
          <a:p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131998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44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92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501461"/>
            <a:ext cx="2642616" cy="37570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86328" y="2501461"/>
            <a:ext cx="2642616" cy="37570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0EAC16-3B86-317F-2CED-01BEFE8BFE5A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09600" y="1412241"/>
            <a:ext cx="2642616" cy="94698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200" b="1"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EA0600A-89E3-8CAB-4C19-49198C79214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3386328" y="1412241"/>
            <a:ext cx="2642616" cy="94698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200" b="1"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690ACF7-A408-80E0-A25E-8A9F74C3F2B6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163056" y="2501461"/>
            <a:ext cx="2642616" cy="37570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DEA59C2-DB92-D43E-C415-F2F3982923E1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939784" y="2503564"/>
            <a:ext cx="2642616" cy="37570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B1781E3-ED60-E5E7-C672-6460D334A22A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163056" y="1412241"/>
            <a:ext cx="2642616" cy="94698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200" b="1"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B5BF9F1-DF69-2318-71B1-9FBF8A1100A0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939784" y="1412241"/>
            <a:ext cx="2642616" cy="94698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200" b="1"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4652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3-Sections-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92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4E06701-73C2-615A-A562-555F80BDD1C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581400" y="1486263"/>
            <a:ext cx="8000999" cy="1554480"/>
          </a:xfrm>
        </p:spPr>
        <p:txBody>
          <a:bodyPr anchor="ctr"/>
          <a:lstStyle>
            <a:lvl1pPr marL="11113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87255F9-16E7-4480-CF5F-70A66F23968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3581400" y="3113676"/>
            <a:ext cx="8000999" cy="1554480"/>
          </a:xfrm>
        </p:spPr>
        <p:txBody>
          <a:bodyPr anchor="ctr"/>
          <a:lstStyle>
            <a:lvl1pPr marL="11113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A1DB515-6EB5-E071-77D5-52780B1F93A1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581400" y="4741091"/>
            <a:ext cx="8000999" cy="1554480"/>
          </a:xfrm>
        </p:spPr>
        <p:txBody>
          <a:bodyPr anchor="ctr"/>
          <a:lstStyle>
            <a:lvl1pPr marL="11113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BDF4819-3238-D7A6-A1C2-3D6281B7411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09602" y="1486263"/>
            <a:ext cx="2743199" cy="155448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2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464CE87-140B-47A2-C33C-D364CA1B76AD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09602" y="3111863"/>
            <a:ext cx="2743199" cy="155448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2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10CFF52-B968-331C-1CD8-EA2083E67BDF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09602" y="4737463"/>
            <a:ext cx="2743199" cy="155448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2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8845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57200"/>
            <a:ext cx="10972803" cy="792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412240"/>
            <a:ext cx="5183188" cy="609600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1" y="2144872"/>
            <a:ext cx="5183188" cy="164592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2" y="1412240"/>
            <a:ext cx="5183188" cy="609600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6000" y="2144872"/>
            <a:ext cx="5183189" cy="164592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6837BAB-9ADC-9365-5A0B-8A91EE33DA2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09601" y="3899216"/>
            <a:ext cx="5183188" cy="609600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79C132-0B69-207E-C232-9EE27B81446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9599" y="4631848"/>
            <a:ext cx="5183188" cy="164592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1046A678-0BB1-E640-930F-4F9737D1DF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6162" y="3911600"/>
            <a:ext cx="5183188" cy="609600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C46D1EF4-2522-BB04-328D-2B072016AA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06160" y="4644232"/>
            <a:ext cx="5183189" cy="164592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6649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3-Sections-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92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4E06701-73C2-615A-A562-555F80BDD1C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581400" y="1486263"/>
            <a:ext cx="8000999" cy="1554480"/>
          </a:xfrm>
        </p:spPr>
        <p:txBody>
          <a:bodyPr anchor="ctr"/>
          <a:lstStyle>
            <a:lvl1pPr marL="11113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87255F9-16E7-4480-CF5F-70A66F23968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3581400" y="3113676"/>
            <a:ext cx="8000999" cy="1554480"/>
          </a:xfrm>
        </p:spPr>
        <p:txBody>
          <a:bodyPr anchor="ctr"/>
          <a:lstStyle>
            <a:lvl1pPr marL="11113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A1DB515-6EB5-E071-77D5-52780B1F93A1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581400" y="4741091"/>
            <a:ext cx="8000999" cy="1554480"/>
          </a:xfrm>
        </p:spPr>
        <p:txBody>
          <a:bodyPr anchor="ctr"/>
          <a:lstStyle>
            <a:lvl1pPr marL="11113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BDF4819-3238-D7A6-A1C2-3D6281B7411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09602" y="1486263"/>
            <a:ext cx="2743199" cy="155448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2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464CE87-140B-47A2-C33C-D364CA1B76AD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09602" y="3111863"/>
            <a:ext cx="2743199" cy="155448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2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10CFF52-B968-331C-1CD8-EA2083E67BDF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09602" y="4737463"/>
            <a:ext cx="2743199" cy="155448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2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8845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3-Sections-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92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4E06701-73C2-615A-A562-555F80BDD1C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581400" y="1486263"/>
            <a:ext cx="8000999" cy="1554480"/>
          </a:xfrm>
        </p:spPr>
        <p:txBody>
          <a:bodyPr anchor="ctr"/>
          <a:lstStyle>
            <a:lvl1pPr marL="11113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87255F9-16E7-4480-CF5F-70A66F23968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3581400" y="3113676"/>
            <a:ext cx="8000999" cy="1554480"/>
          </a:xfrm>
        </p:spPr>
        <p:txBody>
          <a:bodyPr anchor="ctr"/>
          <a:lstStyle>
            <a:lvl1pPr marL="11113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A1DB515-6EB5-E071-77D5-52780B1F93A1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581400" y="4741091"/>
            <a:ext cx="8000999" cy="1554480"/>
          </a:xfrm>
        </p:spPr>
        <p:txBody>
          <a:bodyPr anchor="ctr"/>
          <a:lstStyle>
            <a:lvl1pPr marL="11113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BDF4819-3238-D7A6-A1C2-3D6281B7411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09602" y="1486263"/>
            <a:ext cx="2743199" cy="155448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2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464CE87-140B-47A2-C33C-D364CA1B76AD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09602" y="3111863"/>
            <a:ext cx="2743199" cy="155448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2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10CFF52-B968-331C-1CD8-EA2083E67BDF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09602" y="4737463"/>
            <a:ext cx="2743199" cy="155448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2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8845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 Sections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92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4E06701-73C2-615A-A562-555F80BDD1C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581400" y="1486260"/>
            <a:ext cx="8000999" cy="2286000"/>
          </a:xfrm>
        </p:spPr>
        <p:txBody>
          <a:bodyPr anchor="ctr"/>
          <a:lstStyle>
            <a:lvl1pPr marL="11113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87255F9-16E7-4480-CF5F-70A66F23968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3581400" y="3907615"/>
            <a:ext cx="8000999" cy="2286000"/>
          </a:xfrm>
        </p:spPr>
        <p:txBody>
          <a:bodyPr anchor="ctr"/>
          <a:lstStyle>
            <a:lvl1pPr marL="11113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BDF4819-3238-D7A6-A1C2-3D6281B7411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09602" y="1486260"/>
            <a:ext cx="2743199" cy="2286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2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464CE87-140B-47A2-C33C-D364CA1B76AD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09602" y="3905800"/>
            <a:ext cx="2743199" cy="2286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200" b="1"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6080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44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ext 2 Column Outline">
    <p:bg>
      <p:bgPr>
        <a:solidFill>
          <a:schemeClr val="bg2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457200"/>
            <a:ext cx="10972800" cy="792480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1360" y="1412240"/>
            <a:ext cx="4958080" cy="684848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2"/>
                </a:solidFill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1360" y="2259648"/>
            <a:ext cx="4958080" cy="4029392"/>
          </a:xfrm>
        </p:spPr>
        <p:txBody>
          <a:bodyPr/>
          <a:lstStyle>
            <a:lvl1pPr>
              <a:buClr>
                <a:schemeClr val="accent2"/>
              </a:buClr>
              <a:defRPr/>
            </a:lvl1pPr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07762" y="1412240"/>
            <a:ext cx="4947919" cy="684848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2"/>
                </a:solidFill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7761" y="2259648"/>
            <a:ext cx="4947920" cy="4029392"/>
          </a:xfrm>
        </p:spPr>
        <p:txBody>
          <a:bodyPr/>
          <a:lstStyle>
            <a:lvl1pPr>
              <a:buClr>
                <a:schemeClr val="accent2"/>
              </a:buClr>
              <a:defRPr/>
            </a:lvl1pPr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198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44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25D3F-2ED7-EDDC-23D1-6C2A8606B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725424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4BCDB5-92CE-19FC-210E-528313183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004F1-D87B-3EFD-38E4-82030EC3F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28C3EC-6AEF-4A9D-0ADF-E1554C7B9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021B172-A4F0-5282-DB74-F5ACD631B73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" y="1371599"/>
            <a:ext cx="7254240" cy="684848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A1B9EB-D4F3-ECAC-785C-671C0F3BF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219007"/>
            <a:ext cx="7254240" cy="40293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7550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57200"/>
            <a:ext cx="10972803" cy="792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429640"/>
            <a:ext cx="3566160" cy="502920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015629"/>
            <a:ext cx="3566160" cy="1783080"/>
          </a:xfrm>
        </p:spPr>
        <p:txBody>
          <a:bodyPr>
            <a:noAutofit/>
          </a:bodyPr>
          <a:lstStyle>
            <a:lvl1pPr marL="11113" indent="0"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6837BAB-9ADC-9365-5A0B-8A91EE33DA2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09600" y="3929000"/>
            <a:ext cx="3566160" cy="502920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79C132-0B69-207E-C232-9EE27B81446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9600" y="4511427"/>
            <a:ext cx="3566160" cy="1783080"/>
          </a:xfrm>
        </p:spPr>
        <p:txBody>
          <a:bodyPr>
            <a:noAutofit/>
          </a:bodyPr>
          <a:lstStyle>
            <a:lvl1pPr marL="11113" indent="0"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2341827-5835-D97F-8602-C39FFA3EE7C2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312923" y="1429640"/>
            <a:ext cx="3566160" cy="502920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E3BAFE6-ECE9-0CF5-CD42-3C8A01489025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312921" y="2015629"/>
            <a:ext cx="3566160" cy="1783080"/>
          </a:xfrm>
        </p:spPr>
        <p:txBody>
          <a:bodyPr>
            <a:noAutofit/>
          </a:bodyPr>
          <a:lstStyle>
            <a:lvl1pPr marL="11113" indent="0"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7CA1BAA-9033-45AA-F50B-786E035FCC02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318001" y="3929000"/>
            <a:ext cx="3566160" cy="502920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B9434C97-ED2C-2EC9-AEAB-1BB034F34D35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4318001" y="4511427"/>
            <a:ext cx="3566160" cy="1783080"/>
          </a:xfrm>
        </p:spPr>
        <p:txBody>
          <a:bodyPr>
            <a:noAutofit/>
          </a:bodyPr>
          <a:lstStyle>
            <a:lvl1pPr marL="11113" indent="0"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35F2E0C-CFE9-8898-BF49-42EC81E8054E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016243" y="1429640"/>
            <a:ext cx="3566160" cy="502920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11B83A1A-8EE3-7E42-6353-97174DA98F08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8016241" y="2015629"/>
            <a:ext cx="3566160" cy="1783080"/>
          </a:xfrm>
        </p:spPr>
        <p:txBody>
          <a:bodyPr>
            <a:noAutofit/>
          </a:bodyPr>
          <a:lstStyle>
            <a:lvl1pPr marL="11113" indent="0"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A8F800C-9053-A2C9-F1E1-1E21001E7255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8026403" y="3929000"/>
            <a:ext cx="3566160" cy="502920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074E3290-08BF-EC11-FB9A-10795C2E41F7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8026403" y="4511427"/>
            <a:ext cx="3566160" cy="1783080"/>
          </a:xfrm>
        </p:spPr>
        <p:txBody>
          <a:bodyPr>
            <a:noAutofit/>
          </a:bodyPr>
          <a:lstStyle>
            <a:lvl1pPr marL="11113" indent="0"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8324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10641"/>
            <a:ext cx="10972800" cy="48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971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0780" y="6400801"/>
            <a:ext cx="47904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4160" y="6400801"/>
            <a:ext cx="24282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orient="horz" pos="4032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96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2712" userDrawn="1">
          <p15:clr>
            <a:srgbClr val="F26B43"/>
          </p15:clr>
        </p15:guide>
        <p15:guide id="9" pos="50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10641"/>
            <a:ext cx="10972800" cy="48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971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0780" y="6400801"/>
            <a:ext cx="47904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4160" y="6400801"/>
            <a:ext cx="24282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orient="horz" pos="4032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96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2712" userDrawn="1">
          <p15:clr>
            <a:srgbClr val="F26B43"/>
          </p15:clr>
        </p15:guide>
        <p15:guide id="9" pos="50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10641"/>
            <a:ext cx="10972800" cy="48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971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0780" y="6400801"/>
            <a:ext cx="47904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4160" y="6400801"/>
            <a:ext cx="24282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orient="horz" pos="4032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96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2712" userDrawn="1">
          <p15:clr>
            <a:srgbClr val="F26B43"/>
          </p15:clr>
        </p15:guide>
        <p15:guide id="9" pos="50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10641"/>
            <a:ext cx="10972800" cy="48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971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0780" y="6400801"/>
            <a:ext cx="47904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4160" y="6400801"/>
            <a:ext cx="24282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orient="horz" pos="4032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96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2712" userDrawn="1">
          <p15:clr>
            <a:srgbClr val="F26B43"/>
          </p15:clr>
        </p15:guide>
        <p15:guide id="9" pos="504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10641"/>
            <a:ext cx="10972800" cy="48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971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0780" y="6400801"/>
            <a:ext cx="47904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4160" y="6400801"/>
            <a:ext cx="24282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orient="horz" pos="4032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96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2712" userDrawn="1">
          <p15:clr>
            <a:srgbClr val="F26B43"/>
          </p15:clr>
        </p15:guide>
        <p15:guide id="9" pos="504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10641"/>
            <a:ext cx="10972800" cy="48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971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0780" y="6400801"/>
            <a:ext cx="47904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4160" y="6400801"/>
            <a:ext cx="24282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orient="horz" pos="4032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96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2712" userDrawn="1">
          <p15:clr>
            <a:srgbClr val="F26B43"/>
          </p15:clr>
        </p15:guide>
        <p15:guide id="9" pos="504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10641"/>
            <a:ext cx="10972800" cy="48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971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0780" y="6400801"/>
            <a:ext cx="47904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4160" y="6400801"/>
            <a:ext cx="24282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orient="horz" pos="4032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96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2712" userDrawn="1">
          <p15:clr>
            <a:srgbClr val="F26B43"/>
          </p15:clr>
        </p15:guide>
        <p15:guide id="9" pos="5040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10641"/>
            <a:ext cx="10972800" cy="48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971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0780" y="6400801"/>
            <a:ext cx="47904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4160" y="6400801"/>
            <a:ext cx="24282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orient="horz" pos="4032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96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2712" userDrawn="1">
          <p15:clr>
            <a:srgbClr val="F26B43"/>
          </p15:clr>
        </p15:guide>
        <p15:guide id="9" pos="5040" userDrawn="1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10641"/>
            <a:ext cx="10972800" cy="48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971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0780" y="6400801"/>
            <a:ext cx="47904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4160" y="6400801"/>
            <a:ext cx="24282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orient="horz" pos="4032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96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2712" userDrawn="1">
          <p15:clr>
            <a:srgbClr val="F26B43"/>
          </p15:clr>
        </p15:guide>
        <p15:guide id="9" pos="5040" userDrawn="1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10641"/>
            <a:ext cx="10972800" cy="48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971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0780" y="6400801"/>
            <a:ext cx="47904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4160" y="6400801"/>
            <a:ext cx="24282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orient="horz" pos="4032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96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2712" userDrawn="1">
          <p15:clr>
            <a:srgbClr val="F26B43"/>
          </p15:clr>
        </p15:guide>
        <p15:guide id="9" pos="5040" userDrawn="1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10641"/>
            <a:ext cx="10972800" cy="48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971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0780" y="6400801"/>
            <a:ext cx="47904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4160" y="6400801"/>
            <a:ext cx="24282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orient="horz" pos="4032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96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2712" userDrawn="1">
          <p15:clr>
            <a:srgbClr val="F26B43"/>
          </p15:clr>
        </p15:guide>
        <p15:guide id="9" pos="5040" userDrawn="1">
          <p15:clr>
            <a:srgbClr val="F26B43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10641"/>
            <a:ext cx="10972800" cy="48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971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0780" y="6400801"/>
            <a:ext cx="47904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4160" y="6400801"/>
            <a:ext cx="242824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3" r:id="rId2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orient="horz" pos="4032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96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2712" userDrawn="1">
          <p15:clr>
            <a:srgbClr val="F26B43"/>
          </p15:clr>
        </p15:guide>
        <p15:guide id="9" pos="50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slideLayout" Target="../slideLayouts/slideLayout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0" Type="http://schemas.openxmlformats.org/officeDocument/2006/relationships/tags" Target="../tags/tag16.xml"/><Relationship Id="rId4" Type="http://schemas.openxmlformats.org/officeDocument/2006/relationships/tags" Target="../tags/tag10.xml"/><Relationship Id="rId9" Type="http://schemas.openxmlformats.org/officeDocument/2006/relationships/tags" Target="../tags/tag1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slideLayout" Target="../slideLayouts/slideLayout4.xml"/><Relationship Id="rId18" Type="http://schemas.openxmlformats.org/officeDocument/2006/relationships/image" Target="../media/image5.png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image" Target="../media/image4.svg"/><Relationship Id="rId2" Type="http://schemas.openxmlformats.org/officeDocument/2006/relationships/tags" Target="../tags/tag19.xml"/><Relationship Id="rId16" Type="http://schemas.openxmlformats.org/officeDocument/2006/relationships/image" Target="../media/image3.png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image" Target="../media/image2.svg"/><Relationship Id="rId10" Type="http://schemas.openxmlformats.org/officeDocument/2006/relationships/tags" Target="../tags/tag27.xml"/><Relationship Id="rId19" Type="http://schemas.openxmlformats.org/officeDocument/2006/relationships/image" Target="../media/image6.svg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slideLayout" Target="../slideLayouts/slideLayout5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tags" Target="../tags/tag40.xml"/><Relationship Id="rId5" Type="http://schemas.openxmlformats.org/officeDocument/2006/relationships/tags" Target="../tags/tag34.xml"/><Relationship Id="rId10" Type="http://schemas.openxmlformats.org/officeDocument/2006/relationships/tags" Target="../tags/tag39.xml"/><Relationship Id="rId4" Type="http://schemas.openxmlformats.org/officeDocument/2006/relationships/tags" Target="../tags/tag33.xml"/><Relationship Id="rId9" Type="http://schemas.openxmlformats.org/officeDocument/2006/relationships/tags" Target="../tags/tag3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13" Type="http://schemas.openxmlformats.org/officeDocument/2006/relationships/tags" Target="../tags/tag53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12" Type="http://schemas.openxmlformats.org/officeDocument/2006/relationships/tags" Target="../tags/tag52.xml"/><Relationship Id="rId2" Type="http://schemas.openxmlformats.org/officeDocument/2006/relationships/tags" Target="../tags/tag42.xml"/><Relationship Id="rId16" Type="http://schemas.openxmlformats.org/officeDocument/2006/relationships/slideLayout" Target="../slideLayouts/slideLayout13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tags" Target="../tags/tag51.xml"/><Relationship Id="rId5" Type="http://schemas.openxmlformats.org/officeDocument/2006/relationships/tags" Target="../tags/tag45.xml"/><Relationship Id="rId15" Type="http://schemas.openxmlformats.org/officeDocument/2006/relationships/tags" Target="../tags/tag55.xml"/><Relationship Id="rId10" Type="http://schemas.openxmlformats.org/officeDocument/2006/relationships/tags" Target="../tags/tag50.xml"/><Relationship Id="rId4" Type="http://schemas.openxmlformats.org/officeDocument/2006/relationships/tags" Target="../tags/tag44.xml"/><Relationship Id="rId9" Type="http://schemas.openxmlformats.org/officeDocument/2006/relationships/tags" Target="../tags/tag49.xml"/><Relationship Id="rId14" Type="http://schemas.openxmlformats.org/officeDocument/2006/relationships/tags" Target="../tags/tag5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58.xml"/><Relationship Id="rId7" Type="http://schemas.openxmlformats.org/officeDocument/2006/relationships/tags" Target="../tags/tag62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image" Target="../media/image11.png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image" Target="../media/image10.svg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image" Target="../media/image9.png"/><Relationship Id="rId5" Type="http://schemas.openxmlformats.org/officeDocument/2006/relationships/tags" Target="../tags/tag67.xml"/><Relationship Id="rId10" Type="http://schemas.openxmlformats.org/officeDocument/2006/relationships/slideLayout" Target="../slideLayouts/slideLayout8.xml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slideLayout" Target="../slideLayouts/slideLayout9.xml"/><Relationship Id="rId5" Type="http://schemas.openxmlformats.org/officeDocument/2006/relationships/tags" Target="../tags/tag76.xml"/><Relationship Id="rId4" Type="http://schemas.openxmlformats.org/officeDocument/2006/relationships/tags" Target="../tags/tag7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image" Target="../media/image13.jpe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4E124-D334-7962-D080-4695418A9ECC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605281"/>
            <a:ext cx="6477000" cy="357632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5400" dirty="0"/>
              <a:t>AWS CLI, CloudWatch, IAM, S3 </a:t>
            </a:r>
            <a:r>
              <a:rPr lang="en-US" sz="5400" dirty="0" err="1"/>
              <a:t>og</a:t>
            </a:r>
            <a:r>
              <a:rPr lang="en-US" sz="5400" dirty="0"/>
              <a:t> RDS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A0F976-02A3-7F7A-1643-1F2BBA987641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/>
              <a:t>December 4, 2024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7299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BD3BEF-3DDC-EFF6-04A3-542C6EABD079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567922-F16D-ADA1-AF4D-B5436EAC2F7F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9600" y="1310641"/>
            <a:ext cx="10972800" cy="4836161"/>
          </a:xfrm>
        </p:spPr>
        <p:txBody>
          <a:bodyPr numCol="2">
            <a:normAutofit/>
          </a:bodyPr>
          <a:lstStyle/>
          <a:p>
            <a:pPr>
              <a:buClr>
                <a:schemeClr val="accent1"/>
              </a:buClr>
            </a:pPr>
            <a:r>
              <a:rPr lang="en-US" sz="1400" dirty="0"/>
              <a:t>AWS CLI: Effektivitet via Kommandolinjen
IAM: Administrasjon av Tilgang og Sikkerhet
S3: Enkel Lagringstjeneste
CloudWatch: Overvåking og Observabilitet
RDS: Relasjonell Databasetjeneste
Sikkerhet i RDS
AWS-tjenester: </a:t>
            </a:r>
            <a:r>
              <a:rPr lang="en-US" sz="1400" dirty="0" err="1"/>
              <a:t>Kostnadsoptimalisering</a:t>
            </a:r>
            <a:r>
              <a:rPr lang="en-US" sz="1400" dirty="0"/>
              <a:t>
Integrasjon med Andre AWS-tjenester
Hvorfor Disse Tjenestene er Viktige
Neste Steg i Læringen
Oppsummering av Viktige Konsepter
</a:t>
            </a:r>
            <a:r>
              <a:rPr lang="en-US" sz="1400" dirty="0" err="1"/>
              <a:t>Spørsmål</a:t>
            </a:r>
            <a:endParaRPr lang="en-US" sz="1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530926-5351-1AF7-15F4-9B8C3407603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09600" y="6400800"/>
            <a:ext cx="1825782" cy="198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73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9B7002-33AD-F2F4-EE0B-4C2808EE39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09600" y="460338"/>
            <a:ext cx="5486400" cy="414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AWS CLI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BB4C0C7-DEBB-7AD1-4AC6-84AB17EED7E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9600" y="700741"/>
            <a:ext cx="10972800" cy="792480"/>
          </a:xfrm>
        </p:spPr>
        <p:txBody>
          <a:bodyPr>
            <a:normAutofit/>
          </a:bodyPr>
          <a:lstStyle/>
          <a:p>
            <a:r>
              <a:rPr lang="en-US"/>
              <a:t>AWS CLI: Effektivitet via Kommandolinjen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4DE25-5666-B033-6C5F-56853D33C2B7}"/>
              </a:ext>
            </a:extLst>
          </p:cNvPr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9600" y="3235243"/>
            <a:ext cx="2642616" cy="2822658"/>
          </a:xfrm>
        </p:spPr>
        <p:txBody>
          <a:bodyPr lIns="0">
            <a:normAutofit/>
          </a:bodyPr>
          <a:lstStyle/>
          <a:p>
            <a:pPr marL="11113" indent="0">
              <a:lnSpc>
                <a:spcPct val="130000"/>
              </a:lnSpc>
              <a:buNone/>
            </a:pPr>
            <a:r>
              <a:rPr lang="en-US" sz="1400"/>
              <a:t>AWS CLI står for Command Line Interface. Det lar deg administrere AWS-tjenester fra kommandolinjen.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9E3D164-34EA-CCC6-0D04-370EF0F48223}"/>
              </a:ext>
            </a:extLst>
          </p:cNvPr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386328" y="3235243"/>
            <a:ext cx="2642616" cy="2822658"/>
          </a:xfrm>
        </p:spPr>
        <p:txBody>
          <a:bodyPr lIns="0">
            <a:normAutofit/>
          </a:bodyPr>
          <a:lstStyle/>
          <a:p>
            <a:pPr marL="11113" indent="0">
              <a:lnSpc>
                <a:spcPct val="130000"/>
              </a:lnSpc>
              <a:buNone/>
            </a:pPr>
            <a:r>
              <a:rPr lang="en-US" sz="1400"/>
              <a:t>Eksempler inkluderer:
- aws s3 ls (liste S3-bøtter)
- aws ec2 describe-instances (beskriv EC2-instanser)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CE048E-468B-46C2-9D3B-C1E8319AA2F4}"/>
              </a:ext>
            </a:extLst>
          </p:cNvPr>
          <p:cNvSpPr>
            <a:spLocks noGrp="1"/>
          </p:cNvSpPr>
          <p:nvPr>
            <p:ph type="body" idx="14"/>
            <p:custDataLst>
              <p:tags r:id="rId5"/>
            </p:custDataLst>
          </p:nvPr>
        </p:nvSpPr>
        <p:spPr>
          <a:xfrm>
            <a:off x="609602" y="2532351"/>
            <a:ext cx="2642616" cy="640080"/>
          </a:xfrm>
        </p:spPr>
        <p:txBody>
          <a:bodyPr lIns="0" anchor="ctr">
            <a:normAutofit/>
          </a:bodyPr>
          <a:lstStyle/>
          <a:p>
            <a:r>
              <a:rPr lang="en-US" sz="1700" b="0">
                <a:solidFill>
                  <a:schemeClr val="tx2"/>
                </a:solidFill>
              </a:rPr>
              <a:t>Hva er AWS CLI?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D62A190-0D55-FEDE-2AE9-DCF41814D4DA}"/>
              </a:ext>
            </a:extLst>
          </p:cNvPr>
          <p:cNvSpPr>
            <a:spLocks noGrp="1"/>
          </p:cNvSpPr>
          <p:nvPr>
            <p:ph type="body" idx="15"/>
            <p:custDataLst>
              <p:tags r:id="rId6"/>
            </p:custDataLst>
          </p:nvPr>
        </p:nvSpPr>
        <p:spPr>
          <a:xfrm>
            <a:off x="3386328" y="2532351"/>
            <a:ext cx="2642616" cy="640080"/>
          </a:xfrm>
        </p:spPr>
        <p:txBody>
          <a:bodyPr lIns="0" anchor="ctr">
            <a:normAutofit/>
          </a:bodyPr>
          <a:lstStyle/>
          <a:p>
            <a:r>
              <a:rPr lang="en-US" sz="1700" b="0">
                <a:solidFill>
                  <a:schemeClr val="tx2"/>
                </a:solidFill>
              </a:rPr>
              <a:t>Nøkkelkommandoer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88CA6F2-A08C-9780-2FF1-33D610FBC6F0}"/>
              </a:ext>
            </a:extLst>
          </p:cNvPr>
          <p:cNvSpPr>
            <a:spLocks noGrp="1"/>
          </p:cNvSpPr>
          <p:nvPr>
            <p:ph sz="half" idx="16"/>
            <p:custDataLst>
              <p:tags r:id="rId7"/>
            </p:custDataLst>
          </p:nvPr>
        </p:nvSpPr>
        <p:spPr>
          <a:xfrm>
            <a:off x="6163056" y="3235243"/>
            <a:ext cx="2642616" cy="2822658"/>
          </a:xfrm>
        </p:spPr>
        <p:txBody>
          <a:bodyPr lIns="0">
            <a:normAutofit/>
          </a:bodyPr>
          <a:lstStyle/>
          <a:p>
            <a:pPr marL="11113" indent="0">
              <a:lnSpc>
                <a:spcPct val="130000"/>
              </a:lnSpc>
              <a:buNone/>
            </a:pPr>
            <a:r>
              <a:rPr lang="en-US" sz="1400"/>
              <a:t>1. Installer AWS CLI.
2. Konfigurer med 'aws configure'.
3. Legg til tilgangsnøkler og region.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778047-B10F-BD6D-AF9D-58DD30A86E36}"/>
              </a:ext>
            </a:extLst>
          </p:cNvPr>
          <p:cNvSpPr>
            <a:spLocks noGrp="1"/>
          </p:cNvSpPr>
          <p:nvPr>
            <p:ph sz="half" idx="17"/>
            <p:custDataLst>
              <p:tags r:id="rId8"/>
            </p:custDataLst>
          </p:nvPr>
        </p:nvSpPr>
        <p:spPr>
          <a:xfrm>
            <a:off x="8939784" y="3237344"/>
            <a:ext cx="2642616" cy="2822658"/>
          </a:xfrm>
        </p:spPr>
        <p:txBody>
          <a:bodyPr lIns="0">
            <a:normAutofit/>
          </a:bodyPr>
          <a:lstStyle/>
          <a:p>
            <a:pPr marL="11113" indent="0">
              <a:lnSpc>
                <a:spcPct val="130000"/>
              </a:lnSpc>
              <a:buNone/>
            </a:pPr>
            <a:r>
              <a:rPr lang="en-US" sz="1400"/>
              <a:t>- Automatiser oppgaver med skripting.
- Bruk profiler for forskjellige miljøer.
- Hold deg oppdatert med AWS-dokumentasjon.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4738F25-3596-3DFF-6CD8-E0CC3E33F87A}"/>
              </a:ext>
            </a:extLst>
          </p:cNvPr>
          <p:cNvSpPr>
            <a:spLocks noGrp="1"/>
          </p:cNvSpPr>
          <p:nvPr>
            <p:ph type="body" idx="18"/>
            <p:custDataLst>
              <p:tags r:id="rId9"/>
            </p:custDataLst>
          </p:nvPr>
        </p:nvSpPr>
        <p:spPr>
          <a:xfrm>
            <a:off x="6163056" y="2532351"/>
            <a:ext cx="2642616" cy="640080"/>
          </a:xfrm>
        </p:spPr>
        <p:txBody>
          <a:bodyPr lIns="0" anchor="ctr">
            <a:normAutofit/>
          </a:bodyPr>
          <a:lstStyle/>
          <a:p>
            <a:r>
              <a:rPr lang="en-US" sz="1700" b="0">
                <a:solidFill>
                  <a:schemeClr val="tx2"/>
                </a:solidFill>
              </a:rPr>
              <a:t>Sette opp AWS CLI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BD0E6-D218-A1EB-6E8E-CC61B22CB9B8}"/>
              </a:ext>
            </a:extLst>
          </p:cNvPr>
          <p:cNvSpPr>
            <a:spLocks noGrp="1"/>
          </p:cNvSpPr>
          <p:nvPr>
            <p:ph type="body" idx="19"/>
            <p:custDataLst>
              <p:tags r:id="rId10"/>
            </p:custDataLst>
          </p:nvPr>
        </p:nvSpPr>
        <p:spPr>
          <a:xfrm>
            <a:off x="8939784" y="2532351"/>
            <a:ext cx="2642616" cy="640080"/>
          </a:xfr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 sz="1700" b="0">
                <a:solidFill>
                  <a:schemeClr val="tx2"/>
                </a:solidFill>
              </a:rPr>
              <a:t>Beste Praksis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78B5DC-6210-1990-F7AF-19203514ACB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09600" y="6400800"/>
            <a:ext cx="1825782" cy="198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0503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3059F4-446A-2040-3BB9-C4228425813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09600" y="460338"/>
            <a:ext cx="5486400" cy="414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IAM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869BE325-933C-3458-A19B-53CD410CACCF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9600" y="700741"/>
            <a:ext cx="10972800" cy="792480"/>
          </a:xfrm>
        </p:spPr>
        <p:txBody>
          <a:bodyPr/>
          <a:lstStyle/>
          <a:p>
            <a:r>
              <a:rPr lang="en-US"/>
              <a:t>IAM: Administrasjon av Tilgang og Sikkerhet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D45B313-6EE4-03CA-D638-C3B8F95A2D14}"/>
              </a:ext>
            </a:extLst>
          </p:cNvPr>
          <p:cNvSpPr>
            <a:spLocks noGrp="1"/>
          </p:cNvSpPr>
          <p:nvPr>
            <p:ph sz="half" idx="14"/>
            <p:custDataLst>
              <p:tags r:id="rId3"/>
            </p:custDataLst>
          </p:nvPr>
        </p:nvSpPr>
        <p:spPr>
          <a:xfrm>
            <a:off x="4305301" y="1766388"/>
            <a:ext cx="7277099" cy="1371600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IAM står for Identity and Access Management. Det er en tjeneste for å kontrollere tilgang til AWS-ressurser.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5929C91-B36F-6FCF-5848-317A0DB9D616}"/>
              </a:ext>
            </a:extLst>
          </p:cNvPr>
          <p:cNvSpPr>
            <a:spLocks noGrp="1"/>
          </p:cNvSpPr>
          <p:nvPr>
            <p:ph sz="half" idx="15"/>
            <p:custDataLst>
              <p:tags r:id="rId4"/>
            </p:custDataLst>
          </p:nvPr>
        </p:nvSpPr>
        <p:spPr>
          <a:xfrm>
            <a:off x="4305301" y="3293118"/>
            <a:ext cx="7277099" cy="1371600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- </a:t>
            </a:r>
            <a:r>
              <a:rPr lang="en-US" dirty="0" err="1"/>
              <a:t>Minst</a:t>
            </a:r>
            <a:r>
              <a:rPr lang="en-US" dirty="0"/>
              <a:t> </a:t>
            </a:r>
            <a:r>
              <a:rPr lang="en-US" dirty="0" err="1"/>
              <a:t>privilegium</a:t>
            </a:r>
            <a:r>
              <a:rPr lang="en-US" dirty="0"/>
              <a:t>: Gi </a:t>
            </a:r>
            <a:r>
              <a:rPr lang="en-US" dirty="0" err="1"/>
              <a:t>kun</a:t>
            </a:r>
            <a:r>
              <a:rPr lang="en-US" dirty="0"/>
              <a:t> </a:t>
            </a:r>
            <a:r>
              <a:rPr lang="en-US" dirty="0" err="1"/>
              <a:t>nødvendig</a:t>
            </a:r>
            <a:r>
              <a:rPr lang="en-US" dirty="0"/>
              <a:t> </a:t>
            </a:r>
            <a:r>
              <a:rPr lang="en-US" dirty="0" err="1"/>
              <a:t>tilgang</a:t>
            </a:r>
            <a:r>
              <a:rPr lang="en-US" dirty="0"/>
              <a:t>.  
- MFA: Multi-</a:t>
            </a:r>
            <a:r>
              <a:rPr lang="en-US" dirty="0" err="1"/>
              <a:t>faktor</a:t>
            </a:r>
            <a:r>
              <a:rPr lang="en-US" dirty="0"/>
              <a:t> </a:t>
            </a:r>
            <a:r>
              <a:rPr lang="en-US" dirty="0" err="1"/>
              <a:t>autentisering</a:t>
            </a:r>
            <a:r>
              <a:rPr lang="en-US" dirty="0"/>
              <a:t> for </a:t>
            </a:r>
            <a:r>
              <a:rPr lang="en-US" dirty="0" err="1"/>
              <a:t>økt</a:t>
            </a:r>
            <a:r>
              <a:rPr lang="en-US" dirty="0"/>
              <a:t> </a:t>
            </a:r>
            <a:r>
              <a:rPr lang="en-US" dirty="0" err="1"/>
              <a:t>sikkerhet</a:t>
            </a:r>
            <a:r>
              <a:rPr lang="en-US" dirty="0"/>
              <a:t>.  
- </a:t>
            </a:r>
            <a:r>
              <a:rPr lang="en-US" dirty="0" err="1"/>
              <a:t>Tjenesteroller</a:t>
            </a:r>
            <a:r>
              <a:rPr lang="en-US" dirty="0"/>
              <a:t>: Roller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gir</a:t>
            </a:r>
            <a:r>
              <a:rPr lang="en-US" dirty="0"/>
              <a:t> AWS-</a:t>
            </a:r>
            <a:r>
              <a:rPr lang="en-US" dirty="0" err="1"/>
              <a:t>tjenester</a:t>
            </a:r>
            <a:r>
              <a:rPr lang="en-US" dirty="0"/>
              <a:t> </a:t>
            </a:r>
            <a:r>
              <a:rPr lang="en-US" dirty="0" err="1"/>
              <a:t>tilgang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ressurser</a:t>
            </a:r>
            <a:r>
              <a:rPr lang="en-US" dirty="0"/>
              <a:t>.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AD6F1865-5DAE-BFBA-2FF2-DA142B0B6BE5}"/>
              </a:ext>
            </a:extLst>
          </p:cNvPr>
          <p:cNvSpPr>
            <a:spLocks noGrp="1"/>
          </p:cNvSpPr>
          <p:nvPr>
            <p:ph sz="half" idx="16"/>
            <p:custDataLst>
              <p:tags r:id="rId5"/>
            </p:custDataLst>
          </p:nvPr>
        </p:nvSpPr>
        <p:spPr>
          <a:xfrm>
            <a:off x="4305301" y="4786384"/>
            <a:ext cx="7277099" cy="1371600"/>
          </a:xfrm>
        </p:spPr>
        <p:txBody>
          <a:bodyPr anchor="t"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/>
              <a:t>Trinnene for å opprette en ny IAM-bruker inkluderer:  
1. Gå til IAM-konsollen.  
2. Velg 'Brukere' og klikk 'Legg til bruker'.  
3. Angi brukerens informasjon og tillatelser.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9A1CEA3-2CF3-4D24-B4BF-B1E2F636D15A}"/>
              </a:ext>
            </a:extLst>
          </p:cNvPr>
          <p:cNvSpPr>
            <a:spLocks noGrp="1"/>
          </p:cNvSpPr>
          <p:nvPr>
            <p:ph type="body" idx="17"/>
            <p:custDataLst>
              <p:tags r:id="rId6"/>
            </p:custDataLst>
          </p:nvPr>
        </p:nvSpPr>
        <p:spPr>
          <a:xfrm>
            <a:off x="1263316" y="1766388"/>
            <a:ext cx="2851484" cy="1371600"/>
          </a:xfrm>
        </p:spPr>
        <p:txBody>
          <a:bodyPr anchor="t">
            <a:normAutofit/>
          </a:bodyPr>
          <a:lstStyle/>
          <a:p>
            <a:r>
              <a:rPr lang="en-US" sz="1600" b="0" dirty="0" err="1">
                <a:solidFill>
                  <a:schemeClr val="accent1"/>
                </a:solidFill>
                <a:latin typeface="+mj-lt"/>
              </a:rPr>
              <a:t>Hva</a:t>
            </a:r>
            <a:r>
              <a:rPr lang="en-US" sz="1600" b="0" dirty="0">
                <a:solidFill>
                  <a:schemeClr val="accent1"/>
                </a:solidFill>
                <a:latin typeface="+mj-lt"/>
              </a:rPr>
              <a:t> er IAM?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3280D2F-42F4-D89C-6C98-5D8143BE9670}"/>
              </a:ext>
            </a:extLst>
          </p:cNvPr>
          <p:cNvSpPr>
            <a:spLocks noGrp="1"/>
          </p:cNvSpPr>
          <p:nvPr>
            <p:ph type="body" idx="18"/>
            <p:custDataLst>
              <p:tags r:id="rId7"/>
            </p:custDataLst>
          </p:nvPr>
        </p:nvSpPr>
        <p:spPr>
          <a:xfrm>
            <a:off x="1263316" y="3291304"/>
            <a:ext cx="2851484" cy="1371600"/>
          </a:xfrm>
        </p:spPr>
        <p:txBody>
          <a:bodyPr anchor="t">
            <a:normAutofit/>
          </a:bodyPr>
          <a:lstStyle/>
          <a:p>
            <a:r>
              <a:rPr lang="en-US" sz="1600" b="0">
                <a:solidFill>
                  <a:schemeClr val="accent1"/>
                </a:solidFill>
                <a:latin typeface="+mj-lt"/>
              </a:rPr>
              <a:t>Kjernebegreper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C7D026A-729A-0BDC-C780-6B555ADADDD2}"/>
              </a:ext>
            </a:extLst>
          </p:cNvPr>
          <p:cNvSpPr>
            <a:spLocks noGrp="1"/>
          </p:cNvSpPr>
          <p:nvPr>
            <p:ph type="body" idx="19"/>
            <p:custDataLst>
              <p:tags r:id="rId8"/>
            </p:custDataLst>
          </p:nvPr>
        </p:nvSpPr>
        <p:spPr>
          <a:xfrm>
            <a:off x="1263316" y="4782756"/>
            <a:ext cx="2851484" cy="1371600"/>
          </a:xfrm>
        </p:spPr>
        <p:txBody>
          <a:bodyPr anchor="t">
            <a:normAutofit/>
          </a:bodyPr>
          <a:lstStyle/>
          <a:p>
            <a:r>
              <a:rPr lang="en-US" sz="1600" b="0" dirty="0">
                <a:solidFill>
                  <a:schemeClr val="accent1"/>
                </a:solidFill>
                <a:latin typeface="+mj-lt"/>
              </a:rPr>
              <a:t>Sette opp en IAM-bruker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922E487-E26A-73F5-8471-7DEF175D1F05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83262" y="1790535"/>
            <a:ext cx="320040" cy="32004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1ADDB32-A2C1-6546-B26F-2DA0202239ED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99975" y="3312379"/>
            <a:ext cx="320040" cy="32004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D1B014C-18F5-5B1F-E024-250F8D17D904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83262" y="4834223"/>
            <a:ext cx="320040" cy="3200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3951343-461E-D4BD-671A-00ABB195CCFE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09600" y="6400800"/>
            <a:ext cx="1825782" cy="198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300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6DF6C3E-AA1A-E5F0-C142-8B5051ABF24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09600" y="460338"/>
            <a:ext cx="5486400" cy="414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Lagring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BB4C0C7-DEBB-7AD1-4AC6-84AB17EED7E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9600" y="700741"/>
            <a:ext cx="10972803" cy="792480"/>
          </a:xfrm>
        </p:spPr>
        <p:txBody>
          <a:bodyPr>
            <a:normAutofit/>
          </a:bodyPr>
          <a:lstStyle/>
          <a:p>
            <a:r>
              <a:rPr lang="en-US"/>
              <a:t>S3: Enkel Lagringstjeneste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CE048E-468B-46C2-9D3B-C1E8319AA2F4}"/>
              </a:ext>
            </a:extLst>
          </p:cNvPr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09600" y="1528623"/>
            <a:ext cx="5183188" cy="609600"/>
          </a:xfrm>
        </p:spPr>
        <p:txBody>
          <a:bodyPr anchor="b">
            <a:normAutofit/>
          </a:bodyPr>
          <a:lstStyle/>
          <a:p>
            <a:r>
              <a:rPr lang="en-US" sz="1700" b="0">
                <a:solidFill>
                  <a:schemeClr val="accent1"/>
                </a:solidFill>
                <a:latin typeface="+mj-lt"/>
              </a:rPr>
              <a:t>Hva er S3?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4DE25-5666-B033-6C5F-56853D33C2B7}"/>
              </a:ext>
            </a:extLst>
          </p:cNvPr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9600" y="2200989"/>
            <a:ext cx="5183188" cy="1554480"/>
          </a:xfrm>
        </p:spPr>
        <p:txBody>
          <a:bodyPr>
            <a:normAutofit/>
          </a:bodyPr>
          <a:lstStyle/>
          <a:p>
            <a:pPr marL="11113" indent="0">
              <a:lnSpc>
                <a:spcPct val="125000"/>
              </a:lnSpc>
              <a:buNone/>
            </a:pPr>
            <a:r>
              <a:rPr lang="en-US" sz="1500"/>
              <a:t>AWS S3 (Simple Storage Service) er en skytjeneste for lagring av data som er tilgjengelig via internett.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D62A190-0D55-FEDE-2AE9-DCF41814D4DA}"/>
              </a:ext>
            </a:extLst>
          </p:cNvPr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096000" y="1528623"/>
            <a:ext cx="5183188" cy="609600"/>
          </a:xfrm>
        </p:spPr>
        <p:txBody>
          <a:bodyPr anchor="b">
            <a:normAutofit/>
          </a:bodyPr>
          <a:lstStyle/>
          <a:p>
            <a:r>
              <a:rPr lang="en-US" sz="1700" b="0">
                <a:solidFill>
                  <a:schemeClr val="accent1"/>
                </a:solidFill>
                <a:latin typeface="+mj-lt"/>
              </a:rPr>
              <a:t>Funksjoner og Brukstilfeller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9E3D164-34EA-CCC6-0D04-370EF0F48223}"/>
              </a:ext>
            </a:extLst>
          </p:cNvPr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095999" y="2200989"/>
            <a:ext cx="5183189" cy="1554480"/>
          </a:xfrm>
        </p:spPr>
        <p:txBody>
          <a:bodyPr>
            <a:normAutofit/>
          </a:bodyPr>
          <a:lstStyle/>
          <a:p>
            <a:pPr marL="11113" indent="0">
              <a:lnSpc>
                <a:spcPct val="125000"/>
              </a:lnSpc>
              <a:buNone/>
            </a:pPr>
            <a:r>
              <a:rPr lang="en-US" sz="1500"/>
              <a:t>Lagring av bilder, videoer, sikkerhetskopier, og store datamengder. Ideell for webapplikasjoner.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4738F25-3596-3DFF-6CD8-E0CC3E33F87A}"/>
              </a:ext>
            </a:extLst>
          </p:cNvPr>
          <p:cNvSpPr>
            <a:spLocks noGrp="1"/>
          </p:cNvSpPr>
          <p:nvPr>
            <p:ph type="body" idx="13"/>
            <p:custDataLst>
              <p:tags r:id="rId7"/>
            </p:custDataLst>
          </p:nvPr>
        </p:nvSpPr>
        <p:spPr>
          <a:xfrm>
            <a:off x="609600" y="3896927"/>
            <a:ext cx="5183188" cy="609600"/>
          </a:xfrm>
        </p:spPr>
        <p:txBody>
          <a:bodyPr anchor="b">
            <a:normAutofit/>
          </a:bodyPr>
          <a:lstStyle/>
          <a:p>
            <a:r>
              <a:rPr lang="en-US" sz="1700" b="0">
                <a:solidFill>
                  <a:schemeClr val="accent1"/>
                </a:solidFill>
                <a:latin typeface="+mj-lt"/>
              </a:rPr>
              <a:t>S3-bøtter: Opprettelse og Administrasjon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88CA6F2-A08C-9780-2FF1-33D610FBC6F0}"/>
              </a:ext>
            </a:extLst>
          </p:cNvPr>
          <p:cNvSpPr>
            <a:spLocks noGrp="1"/>
          </p:cNvSpPr>
          <p:nvPr>
            <p:ph sz="half" idx="14"/>
            <p:custDataLst>
              <p:tags r:id="rId8"/>
            </p:custDataLst>
          </p:nvPr>
        </p:nvSpPr>
        <p:spPr>
          <a:xfrm>
            <a:off x="609600" y="4590395"/>
            <a:ext cx="5183188" cy="1554480"/>
          </a:xfrm>
        </p:spPr>
        <p:txBody>
          <a:bodyPr>
            <a:normAutofit/>
          </a:bodyPr>
          <a:lstStyle/>
          <a:p>
            <a:pPr marL="11113" indent="0">
              <a:lnSpc>
                <a:spcPct val="125000"/>
              </a:lnSpc>
              <a:buNone/>
            </a:pPr>
            <a:r>
              <a:rPr lang="en-US" sz="1500"/>
              <a:t>Bøtter brukes til å organisere og lagre filer. Opprettelse via AWS Management Console eller CLI.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BD0E6-D218-A1EB-6E8E-CC61B22CB9B8}"/>
              </a:ext>
            </a:extLst>
          </p:cNvPr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6106161" y="3909311"/>
            <a:ext cx="5183188" cy="609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700" b="0">
                <a:solidFill>
                  <a:schemeClr val="accent1"/>
                </a:solidFill>
                <a:latin typeface="+mj-lt"/>
              </a:rPr>
              <a:t>Kjernebegreper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778047-B10F-BD6D-AF9D-58DD30A86E36}"/>
              </a:ext>
            </a:extLst>
          </p:cNvPr>
          <p:cNvSpPr>
            <a:spLocks noGrp="1"/>
          </p:cNvSpPr>
          <p:nvPr>
            <p:ph sz="quarter" idx="16"/>
            <p:custDataLst>
              <p:tags r:id="rId10"/>
            </p:custDataLst>
          </p:nvPr>
        </p:nvSpPr>
        <p:spPr>
          <a:xfrm>
            <a:off x="6106161" y="4602779"/>
            <a:ext cx="5183189" cy="1554480"/>
          </a:xfrm>
        </p:spPr>
        <p:txBody>
          <a:bodyPr>
            <a:normAutofit/>
          </a:bodyPr>
          <a:lstStyle/>
          <a:p>
            <a:pPr marL="11113" indent="0">
              <a:lnSpc>
                <a:spcPct val="125000"/>
              </a:lnSpc>
              <a:buNone/>
            </a:pPr>
            <a:r>
              <a:rPr lang="en-US" sz="1500"/>
              <a:t>Livssyklus-policyer automatisk håndtere data. Versjonering beskytter mot tap. Kryptering sikrer data.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A34976-8819-270B-55C5-00BDCA493CEC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09600" y="6400800"/>
            <a:ext cx="1825782" cy="198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232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50D25-2E0F-E051-BB65-2EEA9BCBF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BC6B3-2651-34C5-94CF-9E43ED532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35A40-4712-4B4F-C59C-E8C97CB83DD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D80F31-35EE-8E9B-1607-C369A563AD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71DBA7-7FAF-2DD4-3623-9D9A4166AC0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3BFD48-4746-59A9-9224-417378C7556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6A6CF67-8C13-77A8-21DC-69C8407DACEA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26D3AE2-4663-85D7-ECAA-C45B61F249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2193EC1-6592-C0A7-8F61-1F443E7885FB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56491D-6883-585E-5374-6CC5A2917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598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698539-B147-D48D-C720-3822BEC49A0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09600" y="460338"/>
            <a:ext cx="5486400" cy="414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Observabilitet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A4215B-5FFB-D2B2-F253-0C97C0F2A4F0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9600" y="700741"/>
            <a:ext cx="10972803" cy="792480"/>
          </a:xfrm>
        </p:spPr>
        <p:txBody>
          <a:bodyPr>
            <a:normAutofit/>
          </a:bodyPr>
          <a:lstStyle/>
          <a:p>
            <a:r>
              <a:rPr lang="en-US"/>
              <a:t>CloudWatch: Overvåking og Observabilitet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5C8DAED-40AE-F942-BA3F-B143675DA97C}"/>
              </a:ext>
            </a:extLst>
          </p:cNvPr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9600" y="2282454"/>
            <a:ext cx="3566160" cy="155448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30000"/>
              </a:lnSpc>
            </a:pPr>
            <a:r>
              <a:rPr lang="en-US"/>
              <a:t>CloudWatch er en overvåkningstjeneste for AWS-resurser som gir innsikt i systemytelse og applikasjoner.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A22C247-50EE-FE8D-9A37-A1C4B31F28F3}"/>
              </a:ext>
            </a:extLst>
          </p:cNvPr>
          <p:cNvSpPr>
            <a:spLocks noGrp="1"/>
          </p:cNvSpPr>
          <p:nvPr>
            <p:ph sz="half" idx="14"/>
            <p:custDataLst>
              <p:tags r:id="rId4"/>
            </p:custDataLst>
          </p:nvPr>
        </p:nvSpPr>
        <p:spPr>
          <a:xfrm>
            <a:off x="609600" y="4574576"/>
            <a:ext cx="3566160" cy="155448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30000"/>
              </a:lnSpc>
            </a:pPr>
            <a:r>
              <a:rPr lang="en-US"/>
              <a:t>Varsler om spesifikke hendelser slik at tiltak kan iverksettes umiddelbart.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E8C7B59-D144-0736-FACB-5B31D4A65D1B}"/>
              </a:ext>
            </a:extLst>
          </p:cNvPr>
          <p:cNvSpPr>
            <a:spLocks noGrp="1"/>
          </p:cNvSpPr>
          <p:nvPr>
            <p:ph sz="half" idx="16"/>
            <p:custDataLst>
              <p:tags r:id="rId5"/>
            </p:custDataLst>
          </p:nvPr>
        </p:nvSpPr>
        <p:spPr>
          <a:xfrm>
            <a:off x="4312921" y="2282454"/>
            <a:ext cx="3566160" cy="155448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30000"/>
              </a:lnSpc>
            </a:pPr>
            <a:r>
              <a:rPr lang="en-US"/>
              <a:t>Den hjelper deg å overvåke ressurser og sette opp varsler for å reagere raskt på problemer.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5358F21-B044-F92D-D8E4-8A7804E05396}"/>
              </a:ext>
            </a:extLst>
          </p:cNvPr>
          <p:cNvSpPr>
            <a:spLocks noGrp="1"/>
          </p:cNvSpPr>
          <p:nvPr>
            <p:ph sz="half" idx="18"/>
            <p:custDataLst>
              <p:tags r:id="rId6"/>
            </p:custDataLst>
          </p:nvPr>
        </p:nvSpPr>
        <p:spPr>
          <a:xfrm>
            <a:off x="4312921" y="4574576"/>
            <a:ext cx="3566160" cy="155448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30000"/>
              </a:lnSpc>
            </a:pPr>
            <a:r>
              <a:rPr lang="en-US"/>
              <a:t>Lagrer systemlogger for å muliggjøre feilsøking og dypere innsikt.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9E067519-3C97-9FEF-680A-581C78D3B68E}"/>
              </a:ext>
            </a:extLst>
          </p:cNvPr>
          <p:cNvSpPr>
            <a:spLocks noGrp="1"/>
          </p:cNvSpPr>
          <p:nvPr>
            <p:ph sz="half" idx="20"/>
            <p:custDataLst>
              <p:tags r:id="rId7"/>
            </p:custDataLst>
          </p:nvPr>
        </p:nvSpPr>
        <p:spPr>
          <a:xfrm>
            <a:off x="8016241" y="2282454"/>
            <a:ext cx="3566160" cy="155448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30000"/>
              </a:lnSpc>
            </a:pPr>
            <a:r>
              <a:rPr lang="en-US"/>
              <a:t>Samler ytelsesdata for å gi oversikt over systemets helse og ytelse.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E90A2CAD-8C33-A9A1-6EF4-73968570EF3E}"/>
              </a:ext>
            </a:extLst>
          </p:cNvPr>
          <p:cNvSpPr>
            <a:spLocks noGrp="1"/>
          </p:cNvSpPr>
          <p:nvPr>
            <p:ph sz="half" idx="22"/>
            <p:custDataLst>
              <p:tags r:id="rId8"/>
            </p:custDataLst>
          </p:nvPr>
        </p:nvSpPr>
        <p:spPr>
          <a:xfrm>
            <a:off x="8016241" y="4574576"/>
            <a:ext cx="3566160" cy="155448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30000"/>
              </a:lnSpc>
            </a:pPr>
            <a:r>
              <a:rPr lang="en-US"/>
              <a:t>Visuell fremstilling av data som gir et raskt overblikk over kritiske systemer.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FEB824A-A7D1-2BBC-12CC-DE1B2B81E4CB}"/>
              </a:ext>
            </a:extLst>
          </p:cNvPr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09600" y="1854390"/>
            <a:ext cx="3566160" cy="428064"/>
          </a:xfrm>
        </p:spPr>
        <p:txBody>
          <a:bodyPr>
            <a:normAutofit/>
          </a:bodyPr>
          <a:lstStyle/>
          <a:p>
            <a:r>
              <a:rPr lang="en-US" sz="1600" b="0">
                <a:solidFill>
                  <a:schemeClr val="tx2"/>
                </a:solidFill>
              </a:rPr>
              <a:t>Hva er CloudWatch?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B1CB2EE-3497-DA29-50A1-542E4B27C47C}"/>
              </a:ext>
            </a:extLst>
          </p:cNvPr>
          <p:cNvSpPr>
            <a:spLocks noGrp="1"/>
          </p:cNvSpPr>
          <p:nvPr>
            <p:ph type="body" idx="15"/>
            <p:custDataLst>
              <p:tags r:id="rId10"/>
            </p:custDataLst>
          </p:nvPr>
        </p:nvSpPr>
        <p:spPr>
          <a:xfrm>
            <a:off x="4312921" y="1854390"/>
            <a:ext cx="3566160" cy="428064"/>
          </a:xfrm>
        </p:spPr>
        <p:txBody>
          <a:bodyPr>
            <a:normAutofit/>
          </a:bodyPr>
          <a:lstStyle/>
          <a:p>
            <a:r>
              <a:rPr lang="en-US" sz="1600" b="0">
                <a:solidFill>
                  <a:schemeClr val="tx2"/>
                </a:solidFill>
              </a:rPr>
              <a:t>Hvorfor er CloudWatch viktig?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DAC2AB4-EE42-A172-4494-EBA4D0E82A1F}"/>
              </a:ext>
            </a:extLst>
          </p:cNvPr>
          <p:cNvSpPr>
            <a:spLocks noGrp="1"/>
          </p:cNvSpPr>
          <p:nvPr>
            <p:ph type="body" idx="19"/>
            <p:custDataLst>
              <p:tags r:id="rId11"/>
            </p:custDataLst>
          </p:nvPr>
        </p:nvSpPr>
        <p:spPr>
          <a:xfrm>
            <a:off x="8016241" y="1854390"/>
            <a:ext cx="3566160" cy="428064"/>
          </a:xfrm>
        </p:spPr>
        <p:txBody>
          <a:bodyPr>
            <a:normAutofit/>
          </a:bodyPr>
          <a:lstStyle/>
          <a:p>
            <a:r>
              <a:rPr lang="en-US" sz="1600" b="0">
                <a:solidFill>
                  <a:schemeClr val="tx2"/>
                </a:solidFill>
              </a:rPr>
              <a:t>Metrikker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43EC9AC-284B-4B56-06ED-E5C08BF510A6}"/>
              </a:ext>
            </a:extLst>
          </p:cNvPr>
          <p:cNvSpPr>
            <a:spLocks noGrp="1"/>
          </p:cNvSpPr>
          <p:nvPr>
            <p:ph type="body" idx="21"/>
            <p:custDataLst>
              <p:tags r:id="rId12"/>
            </p:custDataLst>
          </p:nvPr>
        </p:nvSpPr>
        <p:spPr>
          <a:xfrm>
            <a:off x="8016241" y="4143178"/>
            <a:ext cx="3566160" cy="428064"/>
          </a:xfrm>
        </p:spPr>
        <p:txBody>
          <a:bodyPr>
            <a:normAutofit/>
          </a:bodyPr>
          <a:lstStyle/>
          <a:p>
            <a:r>
              <a:rPr lang="en-US" sz="1600" b="0">
                <a:solidFill>
                  <a:schemeClr val="tx2"/>
                </a:solidFill>
              </a:rPr>
              <a:t>Dashbord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90F6320-613D-C3FA-ED89-A9B8C7DC458A}"/>
              </a:ext>
            </a:extLst>
          </p:cNvPr>
          <p:cNvSpPr>
            <a:spLocks noGrp="1"/>
          </p:cNvSpPr>
          <p:nvPr>
            <p:ph type="body" idx="17"/>
            <p:custDataLst>
              <p:tags r:id="rId13"/>
            </p:custDataLst>
          </p:nvPr>
        </p:nvSpPr>
        <p:spPr>
          <a:xfrm>
            <a:off x="4312921" y="4143178"/>
            <a:ext cx="3566160" cy="428064"/>
          </a:xfrm>
        </p:spPr>
        <p:txBody>
          <a:bodyPr>
            <a:normAutofit/>
          </a:bodyPr>
          <a:lstStyle/>
          <a:p>
            <a:r>
              <a:rPr lang="en-US" sz="1600" b="0">
                <a:solidFill>
                  <a:schemeClr val="tx2"/>
                </a:solidFill>
              </a:rPr>
              <a:t>Logger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685B1B4F-9CC0-285F-F5CB-4DB3B9EA3D13}"/>
              </a:ext>
            </a:extLst>
          </p:cNvPr>
          <p:cNvSpPr>
            <a:spLocks noGrp="1"/>
          </p:cNvSpPr>
          <p:nvPr>
            <p:ph type="body" idx="13"/>
            <p:custDataLst>
              <p:tags r:id="rId14"/>
            </p:custDataLst>
          </p:nvPr>
        </p:nvSpPr>
        <p:spPr>
          <a:xfrm>
            <a:off x="609600" y="4143178"/>
            <a:ext cx="3566160" cy="428064"/>
          </a:xfrm>
        </p:spPr>
        <p:txBody>
          <a:bodyPr>
            <a:normAutofit/>
          </a:bodyPr>
          <a:lstStyle/>
          <a:p>
            <a:r>
              <a:rPr lang="en-US" sz="1600" b="0" dirty="0">
                <a:solidFill>
                  <a:schemeClr val="tx2"/>
                </a:solidFill>
              </a:rPr>
              <a:t>Alarmer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8262E5-2A3A-30DA-46D8-06E46B21F181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609600" y="6400800"/>
            <a:ext cx="1825782" cy="198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AC614D-7A0B-B43C-3EF6-903F666D236F}"/>
              </a:ext>
            </a:extLst>
          </p:cNvPr>
          <p:cNvSpPr txBox="1"/>
          <p:nvPr/>
        </p:nvSpPr>
        <p:spPr>
          <a:xfrm>
            <a:off x="609597" y="1580692"/>
            <a:ext cx="8423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accent2"/>
                </a:solidFill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40EDA8-4204-5D99-335E-D90244B2E08B}"/>
              </a:ext>
            </a:extLst>
          </p:cNvPr>
          <p:cNvSpPr txBox="1"/>
          <p:nvPr/>
        </p:nvSpPr>
        <p:spPr>
          <a:xfrm>
            <a:off x="4312921" y="1580692"/>
            <a:ext cx="8423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accent2"/>
                </a:solidFill>
              </a:rPr>
              <a:t>02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17CC8D-9B1E-6326-5397-4663A4024522}"/>
              </a:ext>
            </a:extLst>
          </p:cNvPr>
          <p:cNvSpPr txBox="1"/>
          <p:nvPr/>
        </p:nvSpPr>
        <p:spPr>
          <a:xfrm>
            <a:off x="8016241" y="1580692"/>
            <a:ext cx="8423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accent2"/>
                </a:solidFill>
              </a:rPr>
              <a:t>03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CD650B-522C-1A56-B9A1-48DA87D3C67B}"/>
              </a:ext>
            </a:extLst>
          </p:cNvPr>
          <p:cNvSpPr txBox="1"/>
          <p:nvPr/>
        </p:nvSpPr>
        <p:spPr>
          <a:xfrm>
            <a:off x="609597" y="3862954"/>
            <a:ext cx="8423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accent2"/>
                </a:solidFill>
              </a:rPr>
              <a:t>04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296013-3E97-EA04-030E-D0124854E9F5}"/>
              </a:ext>
            </a:extLst>
          </p:cNvPr>
          <p:cNvSpPr txBox="1"/>
          <p:nvPr/>
        </p:nvSpPr>
        <p:spPr>
          <a:xfrm>
            <a:off x="4312921" y="3862954"/>
            <a:ext cx="8423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accent2"/>
                </a:solidFill>
              </a:rPr>
              <a:t>05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41C633-3535-4412-136D-0119A769AF2E}"/>
              </a:ext>
            </a:extLst>
          </p:cNvPr>
          <p:cNvSpPr txBox="1"/>
          <p:nvPr/>
        </p:nvSpPr>
        <p:spPr>
          <a:xfrm>
            <a:off x="8016241" y="3862954"/>
            <a:ext cx="8423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accent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28419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0EDE0-2C46-A05C-5B8A-97A4CC9BE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EF7B6-E9AF-235A-62F3-1F53683CD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5AED9-95E8-4C78-4A38-EA5402BF33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A493B9-7645-9A0C-AF52-3AB16365E54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CE5A94-0321-968E-6DCA-0777CEA60EA1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D908CF3-FFBC-F47E-DD5E-25B4D9FFD214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1B00303-64A8-6627-CF11-65A6374A4022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7D70C75-808D-587D-D24D-23B60A479976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07BB878-43AC-0E7B-FDEB-85441EF56F11}"/>
              </a:ext>
            </a:extLst>
          </p:cNvPr>
          <p:cNvSpPr>
            <a:spLocks noGrp="1"/>
          </p:cNvSpPr>
          <p:nvPr>
            <p:ph sz="half" idx="18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AA74BF1-55BD-6D9D-D7AC-90991BA48475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43FCF1D-42CA-BAEE-9371-7C9EB6C70576}"/>
              </a:ext>
            </a:extLst>
          </p:cNvPr>
          <p:cNvSpPr>
            <a:spLocks noGrp="1"/>
          </p:cNvSpPr>
          <p:nvPr>
            <p:ph sz="half" idx="20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A57DD50-6882-81F6-C4D8-536847DDEB2D}"/>
              </a:ext>
            </a:extLst>
          </p:cNvPr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72CF3C0-D3D4-8A8F-6ED8-1EF04A231781}"/>
              </a:ext>
            </a:extLst>
          </p:cNvPr>
          <p:cNvSpPr>
            <a:spLocks noGrp="1"/>
          </p:cNvSpPr>
          <p:nvPr>
            <p:ph sz="half" idx="22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13D068E-1ED7-5CA4-456A-93E96CBE4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83481" cy="534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351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B4366B-4723-B077-D527-F5665865FDC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09600" y="460338"/>
            <a:ext cx="5486400" cy="414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RDS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869BE325-933C-3458-A19B-53CD410CACCF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9600" y="700741"/>
            <a:ext cx="10972800" cy="792480"/>
          </a:xfrm>
        </p:spPr>
        <p:txBody>
          <a:bodyPr>
            <a:normAutofit/>
          </a:bodyPr>
          <a:lstStyle/>
          <a:p>
            <a:r>
              <a:rPr lang="en-US"/>
              <a:t>RDS: Relasjonell Databasetjeneste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D45B313-6EE4-03CA-D638-C3B8F95A2D14}"/>
              </a:ext>
            </a:extLst>
          </p:cNvPr>
          <p:cNvSpPr>
            <a:spLocks noGrp="1"/>
          </p:cNvSpPr>
          <p:nvPr>
            <p:ph sz="half" idx="14"/>
            <p:custDataLst>
              <p:tags r:id="rId3"/>
            </p:custDataLst>
          </p:nvPr>
        </p:nvSpPr>
        <p:spPr>
          <a:xfrm>
            <a:off x="3581400" y="1725094"/>
            <a:ext cx="8000999" cy="1371600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RDS </a:t>
            </a:r>
            <a:r>
              <a:rPr lang="en-US" dirty="0" err="1"/>
              <a:t>står</a:t>
            </a:r>
            <a:r>
              <a:rPr lang="en-US" dirty="0"/>
              <a:t> for Relational Database Service, </a:t>
            </a:r>
            <a:r>
              <a:rPr lang="en-US" dirty="0" err="1"/>
              <a:t>en</a:t>
            </a:r>
            <a:r>
              <a:rPr lang="en-US" dirty="0"/>
              <a:t> managed </a:t>
            </a:r>
            <a:r>
              <a:rPr lang="en-US" dirty="0" err="1"/>
              <a:t>tjeneste</a:t>
            </a:r>
            <a:r>
              <a:rPr lang="en-US" dirty="0"/>
              <a:t> </a:t>
            </a:r>
            <a:r>
              <a:rPr lang="en-US" dirty="0" err="1"/>
              <a:t>fra</a:t>
            </a:r>
            <a:r>
              <a:rPr lang="en-US" dirty="0"/>
              <a:t> AWS for </a:t>
            </a:r>
            <a:r>
              <a:rPr lang="en-US" dirty="0" err="1"/>
              <a:t>å</a:t>
            </a:r>
            <a:r>
              <a:rPr lang="en-US" dirty="0"/>
              <a:t> </a:t>
            </a:r>
            <a:r>
              <a:rPr lang="en-US" dirty="0" err="1"/>
              <a:t>sette</a:t>
            </a:r>
            <a:r>
              <a:rPr lang="en-US" dirty="0"/>
              <a:t> </a:t>
            </a:r>
            <a:r>
              <a:rPr lang="en-US" dirty="0" err="1"/>
              <a:t>opp</a:t>
            </a:r>
            <a:r>
              <a:rPr lang="en-US" dirty="0"/>
              <a:t>, </a:t>
            </a:r>
            <a:r>
              <a:rPr lang="en-US" dirty="0" err="1"/>
              <a:t>drifte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skalere</a:t>
            </a:r>
            <a:r>
              <a:rPr lang="en-US" dirty="0"/>
              <a:t> </a:t>
            </a:r>
            <a:r>
              <a:rPr lang="en-US" dirty="0" err="1"/>
              <a:t>relasjonelle</a:t>
            </a:r>
            <a:r>
              <a:rPr lang="en-US" dirty="0"/>
              <a:t> </a:t>
            </a:r>
            <a:r>
              <a:rPr lang="en-US" dirty="0" err="1"/>
              <a:t>databaser</a:t>
            </a:r>
            <a:r>
              <a:rPr lang="en-US" dirty="0"/>
              <a:t>.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5929C91-B36F-6FCF-5848-317A0DB9D616}"/>
              </a:ext>
            </a:extLst>
          </p:cNvPr>
          <p:cNvSpPr>
            <a:spLocks noGrp="1"/>
          </p:cNvSpPr>
          <p:nvPr>
            <p:ph sz="half" idx="15"/>
            <p:custDataLst>
              <p:tags r:id="rId4"/>
            </p:custDataLst>
          </p:nvPr>
        </p:nvSpPr>
        <p:spPr>
          <a:xfrm>
            <a:off x="3581400" y="3180319"/>
            <a:ext cx="8000999" cy="1371600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Managed </a:t>
            </a:r>
            <a:r>
              <a:rPr lang="en-US" dirty="0" err="1"/>
              <a:t>tjeneste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håndterer</a:t>
            </a:r>
            <a:r>
              <a:rPr lang="en-US" dirty="0"/>
              <a:t> </a:t>
            </a:r>
            <a:r>
              <a:rPr lang="en-US" dirty="0" err="1"/>
              <a:t>sikkerhetskopier</a:t>
            </a:r>
            <a:r>
              <a:rPr lang="en-US" dirty="0"/>
              <a:t>, </a:t>
            </a:r>
            <a:r>
              <a:rPr lang="en-US" dirty="0" err="1"/>
              <a:t>oppdateringer</a:t>
            </a:r>
            <a:r>
              <a:rPr lang="en-US" dirty="0"/>
              <a:t>,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skalerbarhet</a:t>
            </a:r>
            <a:r>
              <a:rPr lang="en-US" dirty="0"/>
              <a:t>, </a:t>
            </a:r>
            <a:r>
              <a:rPr lang="en-US" dirty="0" err="1"/>
              <a:t>slik</a:t>
            </a:r>
            <a:r>
              <a:rPr lang="en-US" dirty="0"/>
              <a:t> at du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fokusere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utvikling</a:t>
            </a:r>
            <a:r>
              <a:rPr lang="en-US" dirty="0"/>
              <a:t>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9A1CEA3-2CF3-4D24-B4BF-B1E2F636D15A}"/>
              </a:ext>
            </a:extLst>
          </p:cNvPr>
          <p:cNvSpPr>
            <a:spLocks noGrp="1"/>
          </p:cNvSpPr>
          <p:nvPr>
            <p:ph type="body" idx="17"/>
            <p:custDataLst>
              <p:tags r:id="rId5"/>
            </p:custDataLst>
          </p:nvPr>
        </p:nvSpPr>
        <p:spPr>
          <a:xfrm>
            <a:off x="609602" y="1725094"/>
            <a:ext cx="2743199" cy="1371600"/>
          </a:xfrm>
        </p:spPr>
        <p:txBody>
          <a:bodyPr anchor="t">
            <a:normAutofit/>
          </a:bodyPr>
          <a:lstStyle/>
          <a:p>
            <a:r>
              <a:rPr lang="en-US" sz="1800" b="0" dirty="0" err="1">
                <a:solidFill>
                  <a:schemeClr val="accent1"/>
                </a:solidFill>
                <a:latin typeface="+mj-lt"/>
              </a:rPr>
              <a:t>Oversikt</a:t>
            </a:r>
            <a:r>
              <a:rPr lang="en-US" sz="1800" b="0" dirty="0">
                <a:solidFill>
                  <a:schemeClr val="accent1"/>
                </a:solidFill>
                <a:latin typeface="+mj-lt"/>
              </a:rPr>
              <a:t> over RDS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3280D2F-42F4-D89C-6C98-5D8143BE9670}"/>
              </a:ext>
            </a:extLst>
          </p:cNvPr>
          <p:cNvSpPr>
            <a:spLocks noGrp="1"/>
          </p:cNvSpPr>
          <p:nvPr>
            <p:ph type="body" idx="18"/>
            <p:custDataLst>
              <p:tags r:id="rId6"/>
            </p:custDataLst>
          </p:nvPr>
        </p:nvSpPr>
        <p:spPr>
          <a:xfrm>
            <a:off x="609602" y="3180319"/>
            <a:ext cx="2743199" cy="1371600"/>
          </a:xfrm>
        </p:spPr>
        <p:txBody>
          <a:bodyPr anchor="t">
            <a:normAutofit/>
          </a:bodyPr>
          <a:lstStyle/>
          <a:p>
            <a:r>
              <a:rPr lang="en-US" sz="1800" b="0" dirty="0" err="1">
                <a:solidFill>
                  <a:schemeClr val="accent1"/>
                </a:solidFill>
                <a:latin typeface="+mj-lt"/>
              </a:rPr>
              <a:t>Fordeler</a:t>
            </a:r>
            <a:endParaRPr lang="en-US" sz="1800" b="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E89E9D-768E-AA0A-D157-6DD5903240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" y="6400800"/>
            <a:ext cx="1825782" cy="198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71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92E64D0-4370-85F3-EF4C-0B6CC84D5DB0}"/>
              </a:ext>
            </a:extLst>
          </p:cNvPr>
          <p:cNvSpPr/>
          <p:nvPr/>
        </p:nvSpPr>
        <p:spPr>
          <a:xfrm>
            <a:off x="-177" y="-1"/>
            <a:ext cx="40450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A3C79D-0541-BA11-F04E-40B9C2C2584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09600" y="460338"/>
            <a:ext cx="3134061" cy="414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RDS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2BD3BEF-3DDC-EFF6-04A3-542C6EABD07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9600" y="700740"/>
            <a:ext cx="2946360" cy="5440943"/>
          </a:xfrm>
        </p:spPr>
        <p:txBody>
          <a:bodyPr>
            <a:normAutofit/>
          </a:bodyPr>
          <a:lstStyle/>
          <a:p>
            <a:r>
              <a:rPr lang="en-US"/>
              <a:t>Sikkerhet i 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F11BD-1796-5EBC-FAC3-5CDD146B1139}"/>
              </a:ext>
            </a:extLst>
          </p:cNvPr>
          <p:cNvSpPr>
            <a:spLocks noGrp="1"/>
          </p:cNvSpPr>
          <p:nvPr>
            <p:ph sz="half" idx="14"/>
            <p:custDataLst>
              <p:tags r:id="rId3"/>
            </p:custDataLst>
          </p:nvPr>
        </p:nvSpPr>
        <p:spPr>
          <a:xfrm>
            <a:off x="6669741" y="468868"/>
            <a:ext cx="4912658" cy="2926080"/>
          </a:xfrm>
        </p:spPr>
        <p:txBody>
          <a:bodyPr anchor="t">
            <a:noAutofit/>
          </a:bodyPr>
          <a:lstStyle/>
          <a:p>
            <a:pPr marL="296863" indent="-28575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Bruk av IAM for </a:t>
            </a:r>
            <a:r>
              <a:rPr lang="en-US" sz="1400" dirty="0" err="1"/>
              <a:t>tilgangskontroll</a:t>
            </a:r>
            <a:r>
              <a:rPr lang="en-US" sz="1400" dirty="0"/>
              <a:t>.
</a:t>
            </a:r>
            <a:r>
              <a:rPr lang="en-US" sz="1400" dirty="0" err="1"/>
              <a:t>Kryptering</a:t>
            </a:r>
            <a:r>
              <a:rPr lang="en-US" sz="1400" dirty="0"/>
              <a:t> av data ”at rest” </a:t>
            </a:r>
            <a:r>
              <a:rPr lang="en-US" sz="1400" dirty="0" err="1"/>
              <a:t>og</a:t>
            </a:r>
            <a:r>
              <a:rPr lang="en-US" sz="1400" dirty="0"/>
              <a:t> under </a:t>
            </a:r>
            <a:r>
              <a:rPr lang="en-US" sz="1400" dirty="0" err="1"/>
              <a:t>overføring</a:t>
            </a:r>
            <a:r>
              <a:rPr lang="en-US" sz="1400" dirty="0"/>
              <a:t>.
</a:t>
            </a:r>
            <a:r>
              <a:rPr lang="en-US" sz="1400" dirty="0" err="1"/>
              <a:t>Sikkerhetskopiering</a:t>
            </a:r>
            <a:r>
              <a:rPr lang="en-US" sz="1400" dirty="0"/>
              <a:t> av data for </a:t>
            </a:r>
            <a:r>
              <a:rPr lang="en-US" sz="1400" dirty="0" err="1"/>
              <a:t>gjenoppretting</a:t>
            </a:r>
            <a:r>
              <a:rPr lang="en-US" sz="1400" dirty="0"/>
              <a:t>.
Bruk av VPC for </a:t>
            </a:r>
            <a:r>
              <a:rPr lang="en-US" sz="1400" dirty="0" err="1"/>
              <a:t>nettverksisolasjon</a:t>
            </a:r>
            <a:r>
              <a:rPr lang="en-US" sz="1400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FE15B0-B4BD-0C40-EECE-D127CDC241DA}"/>
              </a:ext>
            </a:extLst>
          </p:cNvPr>
          <p:cNvSpPr>
            <a:spLocks noGrp="1"/>
          </p:cNvSpPr>
          <p:nvPr>
            <p:ph sz="half" idx="15"/>
            <p:custDataLst>
              <p:tags r:id="rId4"/>
            </p:custDataLst>
          </p:nvPr>
        </p:nvSpPr>
        <p:spPr>
          <a:xfrm>
            <a:off x="6669741" y="3474720"/>
            <a:ext cx="4912658" cy="2926080"/>
          </a:xfrm>
        </p:spPr>
        <p:txBody>
          <a:bodyPr anchor="t">
            <a:normAutofit/>
          </a:bodyPr>
          <a:lstStyle/>
          <a:p>
            <a:pPr marL="296863" indent="-28575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400"/>
              <a:t>Definerer brukertilgang og roller.
Muliggjør flerfaktorautentisering (MFA).
Sikrer minst privilegium-prinsipp.
Enkel administrasjon av tilgangspolicyer.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DAD59D-6660-E3CC-EBBD-8F9A58AAA134}"/>
              </a:ext>
            </a:extLst>
          </p:cNvPr>
          <p:cNvSpPr>
            <a:spLocks noGrp="1"/>
          </p:cNvSpPr>
          <p:nvPr>
            <p:ph type="body" idx="17"/>
            <p:custDataLst>
              <p:tags r:id="rId5"/>
            </p:custDataLst>
          </p:nvPr>
        </p:nvSpPr>
        <p:spPr>
          <a:xfrm>
            <a:off x="4855680" y="468867"/>
            <a:ext cx="1765267" cy="2926080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b="0" dirty="0">
                <a:solidFill>
                  <a:schemeClr val="tx2"/>
                </a:solidFill>
                <a:latin typeface="+mj-lt"/>
              </a:rPr>
              <a:t>Sikkerhetstiltak i RDS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42DB6D4-ED85-3BE7-8A4B-9990F88085F9}"/>
              </a:ext>
            </a:extLst>
          </p:cNvPr>
          <p:cNvSpPr>
            <a:spLocks noGrp="1"/>
          </p:cNvSpPr>
          <p:nvPr>
            <p:ph type="body" idx="18"/>
            <p:custDataLst>
              <p:tags r:id="rId6"/>
            </p:custDataLst>
          </p:nvPr>
        </p:nvSpPr>
        <p:spPr>
          <a:xfrm>
            <a:off x="4855680" y="3474720"/>
            <a:ext cx="1765267" cy="2926080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b="0">
                <a:solidFill>
                  <a:schemeClr val="tx2"/>
                </a:solidFill>
                <a:latin typeface="+mj-lt"/>
              </a:rPr>
              <a:t>Integrasjon med IAM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BF83028-B71F-D543-D00E-40F17FA12546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65250" y="542869"/>
            <a:ext cx="274320" cy="27432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9E3399F0-D756-19DD-B624-146CDF759136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68800" y="3529647"/>
            <a:ext cx="274320" cy="27432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E386B71-A298-AB77-C4FC-216AB1DF3078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09600" y="6400800"/>
            <a:ext cx="1825782" cy="198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747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FF143-6BD8-2674-B40D-8411BB9BEC1D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9600" y="829288"/>
            <a:ext cx="5037223" cy="5247316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/>
              <a:t>AWS-tjenester: Kostnadsoptimalisering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55F97-AA4B-E922-5F96-CD65D5FAFAD4}"/>
              </a:ext>
            </a:extLst>
          </p:cNvPr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316579" y="457200"/>
            <a:ext cx="5281863" cy="5943600"/>
          </a:xfrm>
          <a:noFill/>
        </p:spPr>
        <p:txBody>
          <a:bodyPr vert="horz" lIns="274320" tIns="274320" rIns="274320" bIns="274320" rtlCol="0" anchor="ctr">
            <a:normAutofit/>
          </a:bodyPr>
          <a:lstStyle/>
          <a:p>
            <a:pPr>
              <a:lnSpc>
                <a:spcPct val="120000"/>
              </a:lnSpc>
              <a:buClr>
                <a:schemeClr val="tx2"/>
              </a:buClr>
            </a:pPr>
            <a:r>
              <a:rPr lang="en-US"/>
              <a:t>Bruk AWS-priskalkulatoren for å estimere kostnader
Implementer Auto Scaling for effektiv ressursbruk
Velg riktig instanstype for arbeidsbelastningen
Bruk S3 livssykluspolicyer for å redusere lagringskostnader
Overvåk kostnader regelmessig med AWS Budgets.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FB6CF7-0880-2F73-FFC5-D670BD809E4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" y="6400800"/>
            <a:ext cx="1825782" cy="198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3D758A-379D-3839-15DB-554B84577D0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09600" y="460338"/>
            <a:ext cx="5486400" cy="414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Kostnader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7420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BD3BEF-3DDC-EFF6-04A3-542C6EABD079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9600" y="700741"/>
            <a:ext cx="10972800" cy="792480"/>
          </a:xfrm>
        </p:spPr>
        <p:txBody>
          <a:bodyPr/>
          <a:lstStyle/>
          <a:p>
            <a:r>
              <a:rPr lang="en-US"/>
              <a:t>Integrasjon med Andre AWS-tjenester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DAD59D-6660-E3CC-EBBD-8F9A58AAA134}"/>
              </a:ext>
            </a:extLst>
          </p:cNvPr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09600" y="2031344"/>
            <a:ext cx="5069840" cy="560057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b="0" dirty="0">
                <a:solidFill>
                  <a:schemeClr val="tx2"/>
                </a:solidFill>
                <a:latin typeface="+mj-lt"/>
              </a:rPr>
              <a:t>IAM og S3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F11BD-1796-5EBC-FAC3-5CDD146B1139}"/>
              </a:ext>
            </a:extLst>
          </p:cNvPr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9600" y="2591402"/>
            <a:ext cx="5069840" cy="3600078"/>
          </a:xfrm>
        </p:spPr>
        <p:txBody>
          <a:bodyPr/>
          <a:lstStyle/>
          <a:p>
            <a:pPr>
              <a:lnSpc>
                <a:spcPct val="100000"/>
              </a:lnSpc>
              <a:buClr>
                <a:schemeClr val="tx2"/>
              </a:buClr>
            </a:pPr>
            <a:r>
              <a:rPr lang="en-US"/>
              <a:t>IAM gir tilgangskontroll til S3-bøtter.
Brukerdefinerte roller sikrer data i S3.
MFA for ekstra sikkerhet ved tilgang.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42DB6D4-ED85-3BE7-8A4B-9990F88085F9}"/>
              </a:ext>
            </a:extLst>
          </p:cNvPr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207762" y="2031344"/>
            <a:ext cx="5069839" cy="560057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b="0">
                <a:solidFill>
                  <a:schemeClr val="tx2"/>
                </a:solidFill>
                <a:latin typeface="+mj-lt"/>
              </a:rPr>
              <a:t>S3 og RDS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FE15B0-B4BD-0C40-EECE-D127CDC241DA}"/>
              </a:ext>
            </a:extLst>
          </p:cNvPr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07761" y="2591402"/>
            <a:ext cx="5069840" cy="3600078"/>
          </a:xfrm>
        </p:spPr>
        <p:txBody>
          <a:bodyPr/>
          <a:lstStyle/>
          <a:p>
            <a:pPr>
              <a:lnSpc>
                <a:spcPct val="100000"/>
              </a:lnSpc>
              <a:buClr>
                <a:schemeClr val="tx2"/>
              </a:buClr>
            </a:pPr>
            <a:r>
              <a:rPr lang="en-US"/>
              <a:t>S3 kan lagre sikkerhetskopier av RDS-databaser.
RDS kan hente data fra S3 for analyser.
Bruk av S3 for arkivering av gamle databaser.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9B4219-52FB-9E5E-4BA5-21DD097D59D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09600" y="6400800"/>
            <a:ext cx="1825782" cy="198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1F9835-5037-CA81-CFC2-990E765B5847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09600" y="460338"/>
            <a:ext cx="5486400" cy="414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Samarbeid mellom Tjenester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1D510F-4795-A7E4-5248-292427F46B62}"/>
              </a:ext>
            </a:extLst>
          </p:cNvPr>
          <p:cNvSpPr txBox="1"/>
          <p:nvPr/>
        </p:nvSpPr>
        <p:spPr>
          <a:xfrm>
            <a:off x="615142" y="1684034"/>
            <a:ext cx="8423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14B40C-92A8-CC3A-82F0-EA3582D882AE}"/>
              </a:ext>
            </a:extLst>
          </p:cNvPr>
          <p:cNvSpPr txBox="1"/>
          <p:nvPr/>
        </p:nvSpPr>
        <p:spPr>
          <a:xfrm>
            <a:off x="6207760" y="1684034"/>
            <a:ext cx="8237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accent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9318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1C394D-9457-9052-ED02-4E5AB20D7DB2}"/>
              </a:ext>
            </a:extLst>
          </p:cNvPr>
          <p:cNvSpPr/>
          <p:nvPr/>
        </p:nvSpPr>
        <p:spPr>
          <a:xfrm>
            <a:off x="6096000" y="0"/>
            <a:ext cx="609600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9AEE23-D7F0-73A9-8065-2FC46DA386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9600" y="6400800"/>
            <a:ext cx="1825782" cy="198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D8A5BA-5BCB-69C4-8F04-A61FF8D4A893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9601" y="776645"/>
            <a:ext cx="5124254" cy="808614"/>
          </a:xfrm>
        </p:spPr>
        <p:txBody>
          <a:bodyPr anchor="t">
            <a:normAutofit/>
          </a:bodyPr>
          <a:lstStyle/>
          <a:p>
            <a:r>
              <a:rPr lang="en-US" sz="2600" dirty="0" err="1"/>
              <a:t>Oppsummering</a:t>
            </a:r>
            <a:endParaRPr lang="en-US" sz="26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E4946FA-F535-E8E1-828C-502FA8993BEF}"/>
              </a:ext>
            </a:extLst>
          </p:cNvPr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09601" y="1612124"/>
            <a:ext cx="5124254" cy="4333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b="0">
                <a:solidFill>
                  <a:schemeClr val="tx2"/>
                </a:solidFill>
                <a:latin typeface="+mj-lt"/>
              </a:rPr>
              <a:t>Hvorfor Disse Tjenestene er Viktige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C6843D-87AE-C9C5-2ABD-A651ACF46903}"/>
              </a:ext>
            </a:extLst>
          </p:cNvPr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9601" y="2161309"/>
            <a:ext cx="5124254" cy="3995950"/>
          </a:xfrm>
        </p:spPr>
        <p:txBody>
          <a:bodyPr/>
          <a:lstStyle/>
          <a:p>
            <a:pPr marL="400041" indent="-280981">
              <a:lnSpc>
                <a:spcPct val="120000"/>
              </a:lnSpc>
              <a:buClr>
                <a:schemeClr val="accent2"/>
              </a:buClr>
            </a:pPr>
            <a:r>
              <a:rPr lang="en-US"/>
              <a:t>AWS CLI effektiviserer administrasjon av AWS-ressurser gjennom kommandolinjen.
CloudWatch gir overvåking og innsikt i systemytelse, noe som er kritisk for drift.
IAM håndterer tilgang og sikkerhet, som er avgjørende for å beskytte data.
S3 tilbyr skalerbar og sikker lagring for data, som er grunnleggende for applikasjoner.
RDS forenkler administrasjon av databaser, og gir høy tilgjengelighet og skalerbarhet.</a:t>
            </a:r>
          </a:p>
        </p:txBody>
      </p:sp>
      <p:pic>
        <p:nvPicPr>
          <p:cNvPr id="1032" name="Picture 8" descr="The Top 10 Most Used AWS Services">
            <a:extLst>
              <a:ext uri="{FF2B5EF4-FFF2-40B4-BE49-F238E27FC236}">
                <a16:creationId xmlns:a16="http://schemas.microsoft.com/office/drawing/2014/main" id="{81F4B08B-C747-497D-43FE-A45CC2D21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8" y="1404469"/>
            <a:ext cx="6096002" cy="406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96236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THEME" val="background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presentation_title"/>
  <p:tag name="PLUS_THEME" val="font_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ate"/>
  <p:tag name="PLUS_THEME" val="font_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_static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agenda"/>
  <p:tag name="PLUS_THEME" val="font_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con_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con_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con_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con_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con_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THEME" val="background_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  <p:tag name="PLUS_THEME" val="background_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heme/theme1.xml><?xml version="1.0" encoding="utf-8"?>
<a:theme xmlns:a="http://schemas.openxmlformats.org/drawingml/2006/main" name="Office Theme">
  <a:themeElements>
    <a:clrScheme name="Plus Default">
      <a:dk1>
        <a:srgbClr val="201C20"/>
      </a:dk1>
      <a:lt1>
        <a:srgbClr val="FFFFFF"/>
      </a:lt1>
      <a:dk2>
        <a:srgbClr val="7D7991"/>
      </a:dk2>
      <a:lt2>
        <a:srgbClr val="F0F0F0"/>
      </a:lt2>
      <a:accent1>
        <a:srgbClr val="7765E3"/>
      </a:accent1>
      <a:accent2>
        <a:srgbClr val="EF233C"/>
      </a:accent2>
      <a:accent3>
        <a:srgbClr val="A09CAB"/>
      </a:accent3>
      <a:accent4>
        <a:srgbClr val="DBD56E"/>
      </a:accent4>
      <a:accent5>
        <a:srgbClr val="606C38"/>
      </a:accent5>
      <a:accent6>
        <a:srgbClr val="EF233C"/>
      </a:accent6>
      <a:hlink>
        <a:srgbClr val="7765E3"/>
      </a:hlink>
      <a:folHlink>
        <a:srgbClr val="7765E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Plus Default">
      <a:dk1>
        <a:srgbClr val="201C20"/>
      </a:dk1>
      <a:lt1>
        <a:srgbClr val="FFFFFF"/>
      </a:lt1>
      <a:dk2>
        <a:srgbClr val="7D7991"/>
      </a:dk2>
      <a:lt2>
        <a:srgbClr val="F0F0F0"/>
      </a:lt2>
      <a:accent1>
        <a:srgbClr val="7765E3"/>
      </a:accent1>
      <a:accent2>
        <a:srgbClr val="EF233C"/>
      </a:accent2>
      <a:accent3>
        <a:srgbClr val="A09CAB"/>
      </a:accent3>
      <a:accent4>
        <a:srgbClr val="DBD56E"/>
      </a:accent4>
      <a:accent5>
        <a:srgbClr val="606C38"/>
      </a:accent5>
      <a:accent6>
        <a:srgbClr val="EF233C"/>
      </a:accent6>
      <a:hlink>
        <a:srgbClr val="7765E3"/>
      </a:hlink>
      <a:folHlink>
        <a:srgbClr val="7765E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Plus Default">
      <a:dk1>
        <a:srgbClr val="201C20"/>
      </a:dk1>
      <a:lt1>
        <a:srgbClr val="FFFFFF"/>
      </a:lt1>
      <a:dk2>
        <a:srgbClr val="7D7991"/>
      </a:dk2>
      <a:lt2>
        <a:srgbClr val="F0F0F0"/>
      </a:lt2>
      <a:accent1>
        <a:srgbClr val="7765E3"/>
      </a:accent1>
      <a:accent2>
        <a:srgbClr val="EF233C"/>
      </a:accent2>
      <a:accent3>
        <a:srgbClr val="A09CAB"/>
      </a:accent3>
      <a:accent4>
        <a:srgbClr val="DBD56E"/>
      </a:accent4>
      <a:accent5>
        <a:srgbClr val="606C38"/>
      </a:accent5>
      <a:accent6>
        <a:srgbClr val="EF233C"/>
      </a:accent6>
      <a:hlink>
        <a:srgbClr val="7765E3"/>
      </a:hlink>
      <a:folHlink>
        <a:srgbClr val="7765E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Plus Default">
      <a:dk1>
        <a:srgbClr val="201C20"/>
      </a:dk1>
      <a:lt1>
        <a:srgbClr val="FFFFFF"/>
      </a:lt1>
      <a:dk2>
        <a:srgbClr val="7D7991"/>
      </a:dk2>
      <a:lt2>
        <a:srgbClr val="F0F0F0"/>
      </a:lt2>
      <a:accent1>
        <a:srgbClr val="7765E3"/>
      </a:accent1>
      <a:accent2>
        <a:srgbClr val="EF233C"/>
      </a:accent2>
      <a:accent3>
        <a:srgbClr val="A09CAB"/>
      </a:accent3>
      <a:accent4>
        <a:srgbClr val="DBD56E"/>
      </a:accent4>
      <a:accent5>
        <a:srgbClr val="606C38"/>
      </a:accent5>
      <a:accent6>
        <a:srgbClr val="EF233C"/>
      </a:accent6>
      <a:hlink>
        <a:srgbClr val="7765E3"/>
      </a:hlink>
      <a:folHlink>
        <a:srgbClr val="7765E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Plus Default">
      <a:dk1>
        <a:srgbClr val="201C20"/>
      </a:dk1>
      <a:lt1>
        <a:srgbClr val="FFFFFF"/>
      </a:lt1>
      <a:dk2>
        <a:srgbClr val="7D7991"/>
      </a:dk2>
      <a:lt2>
        <a:srgbClr val="F0F0F0"/>
      </a:lt2>
      <a:accent1>
        <a:srgbClr val="7765E3"/>
      </a:accent1>
      <a:accent2>
        <a:srgbClr val="EF233C"/>
      </a:accent2>
      <a:accent3>
        <a:srgbClr val="A09CAB"/>
      </a:accent3>
      <a:accent4>
        <a:srgbClr val="DBD56E"/>
      </a:accent4>
      <a:accent5>
        <a:srgbClr val="606C38"/>
      </a:accent5>
      <a:accent6>
        <a:srgbClr val="EF233C"/>
      </a:accent6>
      <a:hlink>
        <a:srgbClr val="7765E3"/>
      </a:hlink>
      <a:folHlink>
        <a:srgbClr val="7765E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Plus Default">
      <a:dk1>
        <a:srgbClr val="201C20"/>
      </a:dk1>
      <a:lt1>
        <a:srgbClr val="FFFFFF"/>
      </a:lt1>
      <a:dk2>
        <a:srgbClr val="7D7991"/>
      </a:dk2>
      <a:lt2>
        <a:srgbClr val="F0F0F0"/>
      </a:lt2>
      <a:accent1>
        <a:srgbClr val="7765E3"/>
      </a:accent1>
      <a:accent2>
        <a:srgbClr val="EF233C"/>
      </a:accent2>
      <a:accent3>
        <a:srgbClr val="A09CAB"/>
      </a:accent3>
      <a:accent4>
        <a:srgbClr val="DBD56E"/>
      </a:accent4>
      <a:accent5>
        <a:srgbClr val="606C38"/>
      </a:accent5>
      <a:accent6>
        <a:srgbClr val="EF233C"/>
      </a:accent6>
      <a:hlink>
        <a:srgbClr val="7765E3"/>
      </a:hlink>
      <a:folHlink>
        <a:srgbClr val="7765E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ffice Theme">
  <a:themeElements>
    <a:clrScheme name="Plus Default">
      <a:dk1>
        <a:srgbClr val="201C20"/>
      </a:dk1>
      <a:lt1>
        <a:srgbClr val="FFFFFF"/>
      </a:lt1>
      <a:dk2>
        <a:srgbClr val="7D7991"/>
      </a:dk2>
      <a:lt2>
        <a:srgbClr val="F0F0F0"/>
      </a:lt2>
      <a:accent1>
        <a:srgbClr val="7765E3"/>
      </a:accent1>
      <a:accent2>
        <a:srgbClr val="EF233C"/>
      </a:accent2>
      <a:accent3>
        <a:srgbClr val="A09CAB"/>
      </a:accent3>
      <a:accent4>
        <a:srgbClr val="DBD56E"/>
      </a:accent4>
      <a:accent5>
        <a:srgbClr val="606C38"/>
      </a:accent5>
      <a:accent6>
        <a:srgbClr val="EF233C"/>
      </a:accent6>
      <a:hlink>
        <a:srgbClr val="7765E3"/>
      </a:hlink>
      <a:folHlink>
        <a:srgbClr val="7765E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Office Theme">
  <a:themeElements>
    <a:clrScheme name="Plus Default">
      <a:dk1>
        <a:srgbClr val="201C20"/>
      </a:dk1>
      <a:lt1>
        <a:srgbClr val="FFFFFF"/>
      </a:lt1>
      <a:dk2>
        <a:srgbClr val="7D7991"/>
      </a:dk2>
      <a:lt2>
        <a:srgbClr val="F0F0F0"/>
      </a:lt2>
      <a:accent1>
        <a:srgbClr val="7765E3"/>
      </a:accent1>
      <a:accent2>
        <a:srgbClr val="EF233C"/>
      </a:accent2>
      <a:accent3>
        <a:srgbClr val="A09CAB"/>
      </a:accent3>
      <a:accent4>
        <a:srgbClr val="DBD56E"/>
      </a:accent4>
      <a:accent5>
        <a:srgbClr val="606C38"/>
      </a:accent5>
      <a:accent6>
        <a:srgbClr val="EF233C"/>
      </a:accent6>
      <a:hlink>
        <a:srgbClr val="7765E3"/>
      </a:hlink>
      <a:folHlink>
        <a:srgbClr val="7765E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Office Theme">
  <a:themeElements>
    <a:clrScheme name="Plus Default">
      <a:dk1>
        <a:srgbClr val="201C20"/>
      </a:dk1>
      <a:lt1>
        <a:srgbClr val="FFFFFF"/>
      </a:lt1>
      <a:dk2>
        <a:srgbClr val="7D7991"/>
      </a:dk2>
      <a:lt2>
        <a:srgbClr val="F0F0F0"/>
      </a:lt2>
      <a:accent1>
        <a:srgbClr val="7765E3"/>
      </a:accent1>
      <a:accent2>
        <a:srgbClr val="EF233C"/>
      </a:accent2>
      <a:accent3>
        <a:srgbClr val="A09CAB"/>
      </a:accent3>
      <a:accent4>
        <a:srgbClr val="DBD56E"/>
      </a:accent4>
      <a:accent5>
        <a:srgbClr val="606C38"/>
      </a:accent5>
      <a:accent6>
        <a:srgbClr val="EF233C"/>
      </a:accent6>
      <a:hlink>
        <a:srgbClr val="7765E3"/>
      </a:hlink>
      <a:folHlink>
        <a:srgbClr val="7765E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Office Theme">
  <a:themeElements>
    <a:clrScheme name="Plus Default">
      <a:dk1>
        <a:srgbClr val="201C20"/>
      </a:dk1>
      <a:lt1>
        <a:srgbClr val="FFFFFF"/>
      </a:lt1>
      <a:dk2>
        <a:srgbClr val="7D7991"/>
      </a:dk2>
      <a:lt2>
        <a:srgbClr val="F0F0F0"/>
      </a:lt2>
      <a:accent1>
        <a:srgbClr val="7765E3"/>
      </a:accent1>
      <a:accent2>
        <a:srgbClr val="EF233C"/>
      </a:accent2>
      <a:accent3>
        <a:srgbClr val="A09CAB"/>
      </a:accent3>
      <a:accent4>
        <a:srgbClr val="DBD56E"/>
      </a:accent4>
      <a:accent5>
        <a:srgbClr val="606C38"/>
      </a:accent5>
      <a:accent6>
        <a:srgbClr val="EF233C"/>
      </a:accent6>
      <a:hlink>
        <a:srgbClr val="7765E3"/>
      </a:hlink>
      <a:folHlink>
        <a:srgbClr val="7765E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1.xml><?xml version="1.0" encoding="utf-8"?>
<a:theme xmlns:a="http://schemas.openxmlformats.org/drawingml/2006/main" name="Office Theme">
  <a:themeElements>
    <a:clrScheme name="Plus Default">
      <a:dk1>
        <a:srgbClr val="201C20"/>
      </a:dk1>
      <a:lt1>
        <a:srgbClr val="FFFFFF"/>
      </a:lt1>
      <a:dk2>
        <a:srgbClr val="7D7991"/>
      </a:dk2>
      <a:lt2>
        <a:srgbClr val="F0F0F0"/>
      </a:lt2>
      <a:accent1>
        <a:srgbClr val="7765E3"/>
      </a:accent1>
      <a:accent2>
        <a:srgbClr val="EF233C"/>
      </a:accent2>
      <a:accent3>
        <a:srgbClr val="A09CAB"/>
      </a:accent3>
      <a:accent4>
        <a:srgbClr val="DBD56E"/>
      </a:accent4>
      <a:accent5>
        <a:srgbClr val="606C38"/>
      </a:accent5>
      <a:accent6>
        <a:srgbClr val="EF233C"/>
      </a:accent6>
      <a:hlink>
        <a:srgbClr val="7765E3"/>
      </a:hlink>
      <a:folHlink>
        <a:srgbClr val="7765E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2.xml><?xml version="1.0" encoding="utf-8"?>
<a:theme xmlns:a="http://schemas.openxmlformats.org/drawingml/2006/main" name="Office Theme">
  <a:themeElements>
    <a:clrScheme name="Plus Default">
      <a:dk1>
        <a:srgbClr val="201C20"/>
      </a:dk1>
      <a:lt1>
        <a:srgbClr val="FFFFFF"/>
      </a:lt1>
      <a:dk2>
        <a:srgbClr val="7D7991"/>
      </a:dk2>
      <a:lt2>
        <a:srgbClr val="F0F0F0"/>
      </a:lt2>
      <a:accent1>
        <a:srgbClr val="7765E3"/>
      </a:accent1>
      <a:accent2>
        <a:srgbClr val="EF233C"/>
      </a:accent2>
      <a:accent3>
        <a:srgbClr val="A09CAB"/>
      </a:accent3>
      <a:accent4>
        <a:srgbClr val="DBD65E"/>
      </a:accent4>
      <a:accent5>
        <a:srgbClr val="606C38"/>
      </a:accent5>
      <a:accent6>
        <a:srgbClr val="EF233C"/>
      </a:accent6>
      <a:hlink>
        <a:srgbClr val="7765E3"/>
      </a:hlink>
      <a:folHlink>
        <a:srgbClr val="7765E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C3CA4A3-9A99-DE4B-A095-236C21139F19}">
  <we:reference id="wa200007130" version="1.0.0.1" store="en-GB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763</Words>
  <Application>Microsoft Macintosh PowerPoint</Application>
  <PresentationFormat>Widescreen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13</vt:i4>
      </vt:variant>
    </vt:vector>
  </HeadingPairs>
  <TitlesOfParts>
    <vt:vector size="28" baseType="lpstr">
      <vt:lpstr>Arial</vt:lpstr>
      <vt:lpstr>Franklin Gothic Book</vt:lpstr>
      <vt:lpstr>Franklin Gothic Medium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AWS CLI, CloudWatch, IAM, S3 og RDS</vt:lpstr>
      <vt:lpstr>Agenda</vt:lpstr>
      <vt:lpstr>AWS CLI: Effektivitet via Kommandolinjen</vt:lpstr>
      <vt:lpstr>IAM: Administrasjon av Tilgang og Sikkerhet</vt:lpstr>
      <vt:lpstr>S3: Enkel Lagringstjeneste</vt:lpstr>
      <vt:lpstr>PowerPoint Presentation</vt:lpstr>
      <vt:lpstr>CloudWatch: Overvåking og Observabilitet</vt:lpstr>
      <vt:lpstr>PowerPoint Presentation</vt:lpstr>
      <vt:lpstr>RDS: Relasjonell Databasetjeneste</vt:lpstr>
      <vt:lpstr>Sikkerhet i RDS</vt:lpstr>
      <vt:lpstr>AWS-tjenester: Kostnadsoptimalisering</vt:lpstr>
      <vt:lpstr>Integrasjon med Andre AWS-tjenester</vt:lpstr>
      <vt:lpstr>Oppsummering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Andreas Flått</dc:creator>
  <cp:lastModifiedBy>Andreas Flått</cp:lastModifiedBy>
  <cp:revision>8</cp:revision>
  <dcterms:created xsi:type="dcterms:W3CDTF">2024-12-04T20:39:12Z</dcterms:created>
  <dcterms:modified xsi:type="dcterms:W3CDTF">2026-01-19T13:29:08Z</dcterms:modified>
</cp:coreProperties>
</file>