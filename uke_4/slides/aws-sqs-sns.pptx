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0" r:id="rId2"/>
    <p:sldMasterId id="2147483652" r:id="rId3"/>
    <p:sldMasterId id="2147483653" r:id="rId4"/>
    <p:sldMasterId id="2147483654" r:id="rId5"/>
    <p:sldMasterId id="2147483655" r:id="rId6"/>
    <p:sldMasterId id="2147483656" r:id="rId7"/>
    <p:sldMasterId id="2147483659" r:id="rId8"/>
    <p:sldMasterId id="2147483660" r:id="rId9"/>
    <p:sldMasterId id="2147483708" r:id="rId10"/>
    <p:sldMasterId id="2147483662" r:id="rId11"/>
    <p:sldMasterId id="2147483663" r:id="rId12"/>
    <p:sldMasterId id="2147483664" r:id="rId13"/>
    <p:sldMasterId id="2147483665" r:id="rId14"/>
    <p:sldMasterId id="2147483666" r:id="rId15"/>
    <p:sldMasterId id="2147483707" r:id="rId16"/>
  </p:sldMasterIdLst>
  <p:notesMasterIdLst>
    <p:notesMasterId r:id="rId34"/>
  </p:notesMasterIdLst>
  <p:sldIdLst>
    <p:sldId id="257" r:id="rId17"/>
    <p:sldId id="258" r:id="rId18"/>
    <p:sldId id="260" r:id="rId19"/>
    <p:sldId id="261" r:id="rId20"/>
    <p:sldId id="262" r:id="rId21"/>
    <p:sldId id="263" r:id="rId22"/>
    <p:sldId id="264" r:id="rId23"/>
    <p:sldId id="275" r:id="rId24"/>
    <p:sldId id="277" r:id="rId25"/>
    <p:sldId id="267" r:id="rId26"/>
    <p:sldId id="278" r:id="rId27"/>
    <p:sldId id="269" r:id="rId28"/>
    <p:sldId id="270" r:id="rId29"/>
    <p:sldId id="279" r:id="rId30"/>
    <p:sldId id="283" r:id="rId31"/>
    <p:sldId id="273" r:id="rId32"/>
    <p:sldId id="274" r:id="rId33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9"/>
    <p:restoredTop sz="94694"/>
  </p:normalViewPr>
  <p:slideViewPr>
    <p:cSldViewPr snapToGrid="0">
      <p:cViewPr varScale="1">
        <p:scale>
          <a:sx n="121" d="100"/>
          <a:sy n="12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21" Type="http://schemas.openxmlformats.org/officeDocument/2006/relationships/slide" Target="slides/slide5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E9F1-0B31-7C42-8FFA-24EEB5345660}" type="datetimeFigureOut">
              <a:rPr lang="en-NO" smtClean="0"/>
              <a:t>23/01/2026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1DB0-07A8-8442-A2EF-D760BBAC294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58593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05281"/>
            <a:ext cx="6400800" cy="319024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6540" y="5181601"/>
            <a:ext cx="6400800" cy="695960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CB9B453-B113-191E-39AE-5F46524E58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1082043"/>
            <a:ext cx="1391920" cy="467195"/>
          </a:xfrm>
        </p:spPr>
        <p:txBody>
          <a:bodyPr anchor="ctr"/>
          <a:lstStyle>
            <a:lvl1pPr marL="120648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1319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4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1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3596641"/>
            <a:ext cx="5183188" cy="528321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4216402"/>
            <a:ext cx="5183188" cy="206247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2" y="3596641"/>
            <a:ext cx="5183188" cy="528321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4216402"/>
            <a:ext cx="5183189" cy="206247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3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292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80733C4-37B3-EAAC-AEF9-6AA9939E4F1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624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1292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44020BC-5D0B-9B40-8801-ED945012C91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01624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45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Section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86260"/>
            <a:ext cx="8000999" cy="228600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3907615"/>
            <a:ext cx="8000999" cy="228600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86260"/>
            <a:ext cx="2743199" cy="228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3905800"/>
            <a:ext cx="2743199" cy="228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608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57200"/>
            <a:ext cx="10972803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412240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44872"/>
            <a:ext cx="5183188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2" y="1412240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144872"/>
            <a:ext cx="5183189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6837BAB-9ADC-9365-5A0B-8A91EE33DA2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601" y="3899216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79C132-0B69-207E-C232-9EE27B8144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599" y="4631848"/>
            <a:ext cx="5183188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046A678-0BB1-E640-930F-4F9737D1DF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6162" y="3911600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46D1EF4-2522-BB04-328D-2B072016AA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06160" y="4644232"/>
            <a:ext cx="5183189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64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1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3596641"/>
            <a:ext cx="5183188" cy="528321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4216402"/>
            <a:ext cx="5183188" cy="206247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2" y="3596641"/>
            <a:ext cx="5183188" cy="528321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4216402"/>
            <a:ext cx="5183189" cy="206247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3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292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80733C4-37B3-EAAC-AEF9-6AA9939E4F1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624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1292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44020BC-5D0B-9B40-8801-ED945012C91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01624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45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Section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86260"/>
            <a:ext cx="8000999" cy="228600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3907615"/>
            <a:ext cx="8000999" cy="228600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86260"/>
            <a:ext cx="2743199" cy="228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3905800"/>
            <a:ext cx="2743199" cy="228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6080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1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4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6328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0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386328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90ACF7-A408-80E0-A25E-8A9F74C3F2B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63056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DEA59C2-DB92-D43E-C415-F2F3982923E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939784" y="2503564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B1781E3-ED60-E5E7-C672-6460D334A22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63056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5BF9F1-DF69-2318-71B1-9FBF8A1100A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39784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652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ection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32560"/>
            <a:ext cx="8000999" cy="10972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2660711"/>
            <a:ext cx="8000999" cy="10972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A1DB515-6EB5-E071-77D5-52780B1F93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581400" y="3888863"/>
            <a:ext cx="8000999" cy="10972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32560"/>
            <a:ext cx="2743199" cy="1097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2660711"/>
            <a:ext cx="2743199" cy="1097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10CFF52-B968-331C-1CD8-EA2083E67BD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9602" y="3888863"/>
            <a:ext cx="2743199" cy="1097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CC4066B-28F8-3C74-DB38-FF82E9635AC4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581400" y="5120640"/>
            <a:ext cx="8000999" cy="10972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638F9F0-5516-0541-FD13-06BB4C7FD86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9602" y="5117012"/>
            <a:ext cx="2743199" cy="1097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947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3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292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80733C4-37B3-EAAC-AEF9-6AA9939E4F1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6240" y="2501461"/>
            <a:ext cx="3566160" cy="37570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1292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44020BC-5D0B-9B40-8801-ED945012C91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016242" y="1412241"/>
            <a:ext cx="3566159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459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1" y="1412240"/>
            <a:ext cx="5120640" cy="684848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259648"/>
            <a:ext cx="5120640" cy="4029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4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6328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0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386328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90ACF7-A408-80E0-A25E-8A9F74C3F2B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63056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DEA59C2-DB92-D43E-C415-F2F3982923E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939784" y="2503564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B1781E3-ED60-E5E7-C672-6460D334A22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63056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5BF9F1-DF69-2318-71B1-9FBF8A1100A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39784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652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4226560"/>
            <a:ext cx="3566160" cy="2032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2920" y="4226560"/>
            <a:ext cx="3566160" cy="2032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80733C4-37B3-EAAC-AEF9-6AA9939E4F1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6240" y="4226560"/>
            <a:ext cx="3566160" cy="2032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1B3F97D-7E38-574A-6E95-2F00134A846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2" y="3545840"/>
            <a:ext cx="3566159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38B55C3-B35F-408A-369D-8D1FF3D18EB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12922" y="3545840"/>
            <a:ext cx="3566159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E6F57E9-E945-F342-883D-87FEE1B72AC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016242" y="3545840"/>
            <a:ext cx="3566159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065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709" r:id="rId3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4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sv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.png"/><Relationship Id="rId5" Type="http://schemas.openxmlformats.org/officeDocument/2006/relationships/tags" Target="../tags/tag32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7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6.png"/><Relationship Id="rId5" Type="http://schemas.openxmlformats.org/officeDocument/2006/relationships/tags" Target="../tags/tag52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image" Target="../media/image9.png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image" Target="../media/image8.jpe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slideLayout" Target="../slideLayouts/slideLayout17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image" Target="../media/image10.png"/><Relationship Id="rId5" Type="http://schemas.openxmlformats.org/officeDocument/2006/relationships/tags" Target="../tags/tag89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13" Type="http://schemas.openxmlformats.org/officeDocument/2006/relationships/image" Target="../media/image13.png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12" Type="http://schemas.openxmlformats.org/officeDocument/2006/relationships/image" Target="../media/image12.sv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image" Target="../media/image11.png"/><Relationship Id="rId5" Type="http://schemas.openxmlformats.org/officeDocument/2006/relationships/tags" Target="../tags/tag98.xml"/><Relationship Id="rId10" Type="http://schemas.openxmlformats.org/officeDocument/2006/relationships/slideLayout" Target="../slideLayouts/slideLayout11.xml"/><Relationship Id="rId4" Type="http://schemas.openxmlformats.org/officeDocument/2006/relationships/tags" Target="../tags/tag97.xml"/><Relationship Id="rId9" Type="http://schemas.openxmlformats.org/officeDocument/2006/relationships/tags" Target="../tags/tag102.xml"/><Relationship Id="rId1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image" Target="../media/image17.png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image" Target="../media/image16.sv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15.png"/><Relationship Id="rId5" Type="http://schemas.openxmlformats.org/officeDocument/2006/relationships/tags" Target="../tags/tag107.xml"/><Relationship Id="rId10" Type="http://schemas.openxmlformats.org/officeDocument/2006/relationships/slideLayout" Target="../slideLayouts/slideLayout16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6" Type="http://schemas.openxmlformats.org/officeDocument/2006/relationships/slideLayout" Target="../slideLayouts/slideLayout17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slideLayout" Target="../slideLayouts/slideLayout14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5" Type="http://schemas.openxmlformats.org/officeDocument/2006/relationships/tags" Target="../tags/tag131.xml"/><Relationship Id="rId10" Type="http://schemas.openxmlformats.org/officeDocument/2006/relationships/tags" Target="../tags/tag136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141.xml"/><Relationship Id="rId9" Type="http://schemas.openxmlformats.org/officeDocument/2006/relationships/tags" Target="../tags/tag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E124-D334-7962-D080-4695418A9EC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05281"/>
            <a:ext cx="6477000" cy="357632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400" dirty="0"/>
              <a:t>Intro til AWS: SNS, SQS og Lambda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0F976-02A3-7F7A-1643-1F2BBA987641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December 4,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29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567922-F16D-ADA1-AF4D-B5436EAC2F7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9600" y="1310641"/>
            <a:ext cx="10972800" cy="4836161"/>
          </a:xfrm>
        </p:spPr>
        <p:txBody>
          <a:bodyPr numCol="2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sz="1400" dirty="0"/>
              <a:t>Hva er skyteknologi?
Betydning av skyen i moderne applikasjoner
Hva er Event-Driven Architecture (EDA)?
Fordeler med Event-Driven Architecture
Hva er Amazon SNS?
SNS-funksjoner og -fordeler
Hvordan SNS fungerer
Hva er Amazon SQS?
Typer av SQS-køer
Hvordan SQS fungerer
Hva er AWS Lambda?
Viktige Lambda-konsepter
Hvordan Lambda integrerer med SNS og SQS
Reelle brukstilfeller
Viktige punkter
Beste praksis for bruk av SNS, SQS og Lambda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530926-5351-1AF7-15F4-9B8C340760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700741"/>
            <a:ext cx="10972800" cy="792480"/>
          </a:xfrm>
        </p:spPr>
        <p:txBody>
          <a:bodyPr>
            <a:normAutofit/>
          </a:bodyPr>
          <a:lstStyle/>
          <a:p>
            <a:r>
              <a:rPr lang="en-US"/>
              <a:t>Betydning av skyen i moderne applikasjoner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45039225-CBD6-88E0-51F5-864B3CBDF0B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09600" y="1762382"/>
            <a:ext cx="1979596" cy="21103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accent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0" dirty="0">
                <a:solidFill>
                  <a:schemeClr val="tx2"/>
                </a:solidFill>
                <a:latin typeface="+mj-lt"/>
              </a:rPr>
              <a:t>Fleksibilitet og skalerbarhet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F71B435-B6B2-3045-A10F-C3D15AC1B0D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743200" y="1762383"/>
            <a:ext cx="8839200" cy="21103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400"/>
              <a:t>Tilpasser seg raskt endringer i etterspørsel.
Skalerer ressurser opp eller ned etter behov.
Gir mulighet for rask utvikling og distribusjon.
Reduserer behovet for fysisk infrastruktur.
Støtter innovasjon uten store investeringer.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A33E59-AF79-606D-078F-4E5AC688898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09600" y="3990028"/>
            <a:ext cx="1979596" cy="21103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accent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0" dirty="0">
                <a:solidFill>
                  <a:schemeClr val="tx2"/>
                </a:solidFill>
                <a:latin typeface="+mj-lt"/>
              </a:rPr>
              <a:t>Eksempler på sky-drevet innovasjon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F171C0CB-6B92-5B95-3F5D-8728633CAFB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743199" y="3990029"/>
            <a:ext cx="8839200" cy="211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400"/>
              <a:t>Netflix: Strømmer innhold globalt uten fysiske begrensninger.
Uber: Koble sjåfører og passasjerer i sanntid via skyen.
Airbnb: Forbinder reisende med vertskap over hele verden.
Spotify: Tilbyr musikkstrømming med personlig tilpasning.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7AE9FF-CACA-B404-BB94-FA2D047B19A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C749BF-2838-14F2-32AC-B5ACF4C0F5A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Skyteknologi</a:t>
            </a:r>
          </a:p>
        </p:txBody>
      </p:sp>
    </p:spTree>
    <p:extLst>
      <p:ext uri="{BB962C8B-B14F-4D97-AF65-F5344CB8AC3E}">
        <p14:creationId xmlns:p14="http://schemas.microsoft.com/office/powerpoint/2010/main" val="1841985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DDF8FE-2311-8FBF-F78E-6FD50FB94EA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EDA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6586C-1FA9-6842-68E8-90655E0DB31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Hva er Event-Driven Architecture (EDA)?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15C28-264A-B565-F074-3D37916FC28F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9600" y="1048245"/>
            <a:ext cx="2511972" cy="1289406"/>
          </a:xfrm>
        </p:spPr>
        <p:txBody>
          <a:bodyPr lIns="0" anchor="ctr">
            <a:normAutofit/>
          </a:bodyPr>
          <a:lstStyle/>
          <a:p>
            <a:r>
              <a:rPr lang="en-US" sz="1600" b="0" dirty="0" err="1">
                <a:solidFill>
                  <a:schemeClr val="accent1"/>
                </a:solidFill>
                <a:latin typeface="+mj-lt"/>
              </a:rPr>
              <a:t>Definisjon</a:t>
            </a:r>
            <a:r>
              <a:rPr lang="en-US" sz="1600" b="0" dirty="0">
                <a:solidFill>
                  <a:schemeClr val="accent1"/>
                </a:solidFill>
                <a:latin typeface="+mj-lt"/>
              </a:rPr>
              <a:t> av EDA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817A8-0C99-2773-9EB3-AF980A0543DA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9600" y="2160285"/>
            <a:ext cx="2511972" cy="3697838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dirty="0"/>
              <a:t>Event-Driven Architecture (EDA)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programvarearkitektur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reagerer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hendelser</a:t>
            </a:r>
            <a:r>
              <a:rPr lang="en-US" dirty="0"/>
              <a:t>.</a:t>
            </a:r>
          </a:p>
          <a:p>
            <a:pPr marL="11113" indent="0">
              <a:lnSpc>
                <a:spcPct val="120000"/>
              </a:lnSpc>
              <a:buNone/>
            </a:pPr>
            <a:r>
              <a:rPr lang="en-US" dirty="0"/>
              <a:t> </a:t>
            </a:r>
            <a:r>
              <a:rPr lang="en-US" dirty="0" err="1"/>
              <a:t>Hovedkomponentene</a:t>
            </a:r>
            <a:r>
              <a:rPr lang="en-US" dirty="0"/>
              <a:t> </a:t>
            </a:r>
            <a:r>
              <a:rPr lang="en-US" dirty="0" err="1"/>
              <a:t>inkluderer</a:t>
            </a:r>
            <a:r>
              <a:rPr lang="en-US" dirty="0"/>
              <a:t> </a:t>
            </a:r>
            <a:r>
              <a:rPr lang="en-US" dirty="0" err="1"/>
              <a:t>hendelser</a:t>
            </a:r>
            <a:r>
              <a:rPr lang="en-US" dirty="0"/>
              <a:t>, </a:t>
            </a:r>
            <a:r>
              <a:rPr lang="en-US" dirty="0" err="1"/>
              <a:t>produsenter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genererer</a:t>
            </a:r>
            <a:r>
              <a:rPr lang="en-US" dirty="0"/>
              <a:t> </a:t>
            </a:r>
            <a:r>
              <a:rPr lang="en-US" dirty="0" err="1"/>
              <a:t>hendelser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forbrukere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reagerer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dem.</a:t>
            </a:r>
          </a:p>
          <a:p>
            <a:pPr marL="11113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2E756F-952E-165D-4A8B-4740E522EA9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12" name="Picture 11" descr="A diagram of a business&#10;&#10;AI-generated content may be incorrect.">
            <a:extLst>
              <a:ext uri="{FF2B5EF4-FFF2-40B4-BE49-F238E27FC236}">
                <a16:creationId xmlns:a16="http://schemas.microsoft.com/office/drawing/2014/main" id="{322EC945-66ED-A765-786D-BA2AA96F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1607" y="1493221"/>
            <a:ext cx="7120758" cy="5084305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63B2A1-FE7C-9F69-310E-8035EECD7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383A58C-99C2-5EF9-8C0B-525585964F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369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2E93C0-D213-5FB4-223B-AE2AD5F24E54}"/>
              </a:ext>
            </a:extLst>
          </p:cNvPr>
          <p:cNvSpPr/>
          <p:nvPr/>
        </p:nvSpPr>
        <p:spPr>
          <a:xfrm>
            <a:off x="-177" y="-1"/>
            <a:ext cx="40450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A48C6-AA9A-1D09-0830-E327473D9E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EDA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0"/>
            <a:ext cx="2946360" cy="5435600"/>
          </a:xfrm>
        </p:spPr>
        <p:txBody>
          <a:bodyPr>
            <a:normAutofit/>
          </a:bodyPr>
          <a:lstStyle/>
          <a:p>
            <a:r>
              <a:rPr lang="en-US"/>
              <a:t>Fordeler med Event-Driven Architecture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788DD44-AE73-33B6-4635-9B8D5137E60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73779" y="468868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Dekopling av systemer gir større fleksibilitet i design og implementering.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595EC02-957F-FE81-2C9F-5A8C787B445F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773778" y="2474714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Kan håndtere økt belastning ved å tilpasse seg sanntidshendelser.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262DC19F-B03F-FD9C-64D4-837E89CE392B}"/>
              </a:ext>
            </a:extLst>
          </p:cNvPr>
          <p:cNvSpPr>
            <a:spLocks noGrp="1"/>
          </p:cNvSpPr>
          <p:nvPr>
            <p:ph sz="half" idx="13"/>
            <p:custDataLst>
              <p:tags r:id="rId5"/>
            </p:custDataLst>
          </p:nvPr>
        </p:nvSpPr>
        <p:spPr>
          <a:xfrm>
            <a:off x="6773778" y="4480560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Optimal ressursbruk reduserer kostnader i driftsmiljøer.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4"/>
            <p:custDataLst>
              <p:tags r:id="rId6"/>
            </p:custDataLst>
          </p:nvPr>
        </p:nvSpPr>
        <p:spPr>
          <a:xfrm>
            <a:off x="5028112" y="468866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Fleksibilitet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5"/>
            <p:custDataLst>
              <p:tags r:id="rId7"/>
            </p:custDataLst>
          </p:nvPr>
        </p:nvSpPr>
        <p:spPr>
          <a:xfrm>
            <a:off x="5028112" y="2474714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Skalerbarhet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6"/>
            <p:custDataLst>
              <p:tags r:id="rId8"/>
            </p:custDataLst>
          </p:nvPr>
        </p:nvSpPr>
        <p:spPr>
          <a:xfrm>
            <a:off x="5028112" y="4480560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Kostnadseffektivitet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4DFC7-C861-C967-C0CE-7990949D9E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50666-EF2A-25FF-33FB-7652A907C850}"/>
              </a:ext>
            </a:extLst>
          </p:cNvPr>
          <p:cNvSpPr txBox="1"/>
          <p:nvPr/>
        </p:nvSpPr>
        <p:spPr>
          <a:xfrm>
            <a:off x="4217307" y="468866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FBC15-F158-6986-2CDF-05CDE56DD4FB}"/>
              </a:ext>
            </a:extLst>
          </p:cNvPr>
          <p:cNvSpPr txBox="1"/>
          <p:nvPr/>
        </p:nvSpPr>
        <p:spPr>
          <a:xfrm>
            <a:off x="4217307" y="2478140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E883E-9DCA-2FEA-ED38-A301BADB1863}"/>
              </a:ext>
            </a:extLst>
          </p:cNvPr>
          <p:cNvSpPr txBox="1"/>
          <p:nvPr/>
        </p:nvSpPr>
        <p:spPr>
          <a:xfrm>
            <a:off x="4217307" y="4480560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307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2E64D0-4370-85F3-EF4C-0B6CC84D5DB0}"/>
              </a:ext>
            </a:extLst>
          </p:cNvPr>
          <p:cNvSpPr/>
          <p:nvPr/>
        </p:nvSpPr>
        <p:spPr>
          <a:xfrm>
            <a:off x="-177" y="-1"/>
            <a:ext cx="40450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3C79D-0541-BA11-F04E-40B9C2C258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3134061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SNS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0"/>
            <a:ext cx="2946360" cy="5440943"/>
          </a:xfrm>
        </p:spPr>
        <p:txBody>
          <a:bodyPr>
            <a:normAutofit/>
          </a:bodyPr>
          <a:lstStyle/>
          <a:p>
            <a:r>
              <a:rPr lang="en-US"/>
              <a:t>Hva er Amazon SNS?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11BD-1796-5EBC-FAC3-5CDD146B1139}"/>
              </a:ext>
            </a:extLst>
          </p:cNvPr>
          <p:cNvSpPr>
            <a:spLocks noGrp="1"/>
          </p:cNvSpPr>
          <p:nvPr>
            <p:ph sz="half" idx="14"/>
            <p:custDataLst>
              <p:tags r:id="rId3"/>
            </p:custDataLst>
          </p:nvPr>
        </p:nvSpPr>
        <p:spPr>
          <a:xfrm>
            <a:off x="6669741" y="468868"/>
            <a:ext cx="4912658" cy="2926080"/>
          </a:xfrm>
        </p:spPr>
        <p:txBody>
          <a:bodyPr anchor="t">
            <a:noAutofit/>
          </a:bodyPr>
          <a:lstStyle/>
          <a:p>
            <a:pPr marL="296863" indent="-28575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/>
              <a:t>Amazon SNS står for Simple Notification Service.
Det er en meldingsservice for å sende varsler.
Brukes i distribuerte systemer for kommunikasjon.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E15B0-B4BD-0C40-EECE-D127CDC241DA}"/>
              </a:ext>
            </a:extLst>
          </p:cNvPr>
          <p:cNvSpPr>
            <a:spLocks noGrp="1"/>
          </p:cNvSpPr>
          <p:nvPr>
            <p:ph sz="half" idx="15"/>
            <p:custDataLst>
              <p:tags r:id="rId4"/>
            </p:custDataLst>
          </p:nvPr>
        </p:nvSpPr>
        <p:spPr>
          <a:xfrm>
            <a:off x="6669741" y="3474720"/>
            <a:ext cx="4912658" cy="2926080"/>
          </a:xfrm>
        </p:spPr>
        <p:txBody>
          <a:bodyPr anchor="t">
            <a:normAutofit/>
          </a:bodyPr>
          <a:lstStyle/>
          <a:p>
            <a:pPr marL="296863" indent="-28575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/>
              <a:t>Pub/Sub-modellen tillater en til mange-meldinger.
Produsenter sender meldinger til emner.
Abonnenter mottar meldinger fra emner de er registrert på.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DAD59D-6660-E3CC-EBBD-8F9A58AAA134}"/>
              </a:ext>
            </a:extLst>
          </p:cNvPr>
          <p:cNvSpPr>
            <a:spLocks noGrp="1"/>
          </p:cNvSpPr>
          <p:nvPr>
            <p:ph type="body" idx="17"/>
            <p:custDataLst>
              <p:tags r:id="rId5"/>
            </p:custDataLst>
          </p:nvPr>
        </p:nvSpPr>
        <p:spPr>
          <a:xfrm>
            <a:off x="4855680" y="468867"/>
            <a:ext cx="1765267" cy="2926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0" dirty="0">
                <a:solidFill>
                  <a:schemeClr val="tx2"/>
                </a:solidFill>
                <a:latin typeface="+mj-lt"/>
              </a:rPr>
              <a:t>Oversikt over SNS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DB6D4-ED85-3BE7-8A4B-9990F88085F9}"/>
              </a:ext>
            </a:extLst>
          </p:cNvPr>
          <p:cNvSpPr>
            <a:spLocks noGrp="1"/>
          </p:cNvSpPr>
          <p:nvPr>
            <p:ph type="body" idx="18"/>
            <p:custDataLst>
              <p:tags r:id="rId6"/>
            </p:custDataLst>
          </p:nvPr>
        </p:nvSpPr>
        <p:spPr>
          <a:xfrm>
            <a:off x="4855680" y="3474720"/>
            <a:ext cx="1765267" cy="2926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solidFill>
                  <a:schemeClr val="tx2"/>
                </a:solidFill>
                <a:latin typeface="+mj-lt"/>
              </a:rPr>
              <a:t>Brukstilfelle: Pub/Sub-melding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F83028-B71F-D543-D00E-40F17FA1254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65250" y="542869"/>
            <a:ext cx="274320" cy="2743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E3399F0-D756-19DD-B624-146CDF75913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68800" y="3529647"/>
            <a:ext cx="274320" cy="2743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386B71-A298-AB77-C4FC-216AB1DF307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4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DF6C3E-AA1A-E5F0-C142-8B5051ABF24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SNS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3" cy="792480"/>
          </a:xfrm>
        </p:spPr>
        <p:txBody>
          <a:bodyPr>
            <a:normAutofit/>
          </a:bodyPr>
          <a:lstStyle/>
          <a:p>
            <a:r>
              <a:rPr lang="en-US"/>
              <a:t>SNS-funksjoner og -fordeler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9600" y="1528623"/>
            <a:ext cx="5183188" cy="609600"/>
          </a:xfrm>
        </p:spPr>
        <p:txBody>
          <a:bodyPr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Meldingsprotokoller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4DE25-5666-B033-6C5F-56853D33C2B7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9600" y="2200989"/>
            <a:ext cx="5183188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Støtter e-post, SMS og HTTP/S for varslinger.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096000" y="1528623"/>
            <a:ext cx="5183188" cy="609600"/>
          </a:xfrm>
        </p:spPr>
        <p:txBody>
          <a:bodyPr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Skalerbarhet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3D164-34EA-CCC6-0D04-370EF0F48223}"/>
              </a:ext>
            </a:extLst>
          </p:cNvPr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095999" y="2200989"/>
            <a:ext cx="5183189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Automatisk tilpasser seg økt etterspørsel uten nedetid.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3"/>
            <p:custDataLst>
              <p:tags r:id="rId7"/>
            </p:custDataLst>
          </p:nvPr>
        </p:nvSpPr>
        <p:spPr>
          <a:xfrm>
            <a:off x="609600" y="3896927"/>
            <a:ext cx="5183188" cy="609600"/>
          </a:xfrm>
        </p:spPr>
        <p:txBody>
          <a:bodyPr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Høy tilgjengelighet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8CA6F2-A08C-9780-2FF1-33D610FBC6F0}"/>
              </a:ext>
            </a:extLst>
          </p:cNvPr>
          <p:cNvSpPr>
            <a:spLocks noGrp="1"/>
          </p:cNvSpPr>
          <p:nvPr>
            <p:ph sz="half" idx="14"/>
            <p:custDataLst>
              <p:tags r:id="rId8"/>
            </p:custDataLst>
          </p:nvPr>
        </p:nvSpPr>
        <p:spPr>
          <a:xfrm>
            <a:off x="609600" y="4590395"/>
            <a:ext cx="5183188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Designet for å være tilgjengelig når som helst, overalt.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BD0E6-D218-A1EB-6E8E-CC61B22CB9B8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106161" y="3909311"/>
            <a:ext cx="5183188" cy="609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Vanlige scenarier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78047-B10F-BD6D-AF9D-58DD30A86E36}"/>
              </a:ext>
            </a:extLst>
          </p:cNvPr>
          <p:cNvSpPr>
            <a:spLocks noGrp="1"/>
          </p:cNvSpPr>
          <p:nvPr>
            <p:ph sz="quarter" idx="16"/>
            <p:custDataLst>
              <p:tags r:id="rId10"/>
            </p:custDataLst>
          </p:nvPr>
        </p:nvSpPr>
        <p:spPr>
          <a:xfrm>
            <a:off x="6106161" y="4602779"/>
            <a:ext cx="5183189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Brukes for varsler, meldinger og kringkasting av informasjon.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A34976-8819-270B-55C5-00BDCA493CE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3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2899B83-815B-A871-6B37-5A52DDCF734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Teknologi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4449C-5303-D6AC-1283-771188148CC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Hvordan SNS fungerer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E432-CAC9-62B3-572B-02BAA5E3E85C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12372" y="4532714"/>
            <a:ext cx="3474720" cy="1647619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Mottar meldinger fra SNS-emner de abonnerer på.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B616A-2C79-4CDD-6A5D-7C44B4F565A9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312921" y="4534058"/>
            <a:ext cx="3474720" cy="1647619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Sender meldinger til SNS-emner for distribusjon til abonnenter.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7F5352-ACE0-4B2F-8FFB-85FCAA104802}"/>
              </a:ext>
            </a:extLst>
          </p:cNvPr>
          <p:cNvSpPr>
            <a:spLocks noGrp="1"/>
          </p:cNvSpPr>
          <p:nvPr>
            <p:ph sz="half" idx="13"/>
            <p:custDataLst>
              <p:tags r:id="rId5"/>
            </p:custDataLst>
          </p:nvPr>
        </p:nvSpPr>
        <p:spPr>
          <a:xfrm>
            <a:off x="8016241" y="4534058"/>
            <a:ext cx="3474720" cy="1647619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Kategoriserer og organiserer meldinger for effektiv distribusjon.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4D3D6-E2CF-C0AF-EEE1-8C96DF9A443E}"/>
              </a:ext>
            </a:extLst>
          </p:cNvPr>
          <p:cNvSpPr>
            <a:spLocks noGrp="1"/>
          </p:cNvSpPr>
          <p:nvPr>
            <p:ph type="body" idx="14"/>
            <p:custDataLst>
              <p:tags r:id="rId6"/>
            </p:custDataLst>
          </p:nvPr>
        </p:nvSpPr>
        <p:spPr>
          <a:xfrm>
            <a:off x="612372" y="4089568"/>
            <a:ext cx="3474720" cy="431905"/>
          </a:xfrm>
        </p:spPr>
        <p:txBody>
          <a:bodyPr lIns="0" anchor="t">
            <a:normAutofit/>
          </a:bodyPr>
          <a:lstStyle/>
          <a:p>
            <a:r>
              <a:rPr lang="en-US" sz="1600" b="0" dirty="0">
                <a:latin typeface="+mj-lt"/>
              </a:rPr>
              <a:t>Subscribers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5AADC3-C1D9-84E8-1EE5-096B515415BA}"/>
              </a:ext>
            </a:extLst>
          </p:cNvPr>
          <p:cNvSpPr>
            <a:spLocks noGrp="1"/>
          </p:cNvSpPr>
          <p:nvPr>
            <p:ph type="body" idx="15"/>
            <p:custDataLst>
              <p:tags r:id="rId7"/>
            </p:custDataLst>
          </p:nvPr>
        </p:nvSpPr>
        <p:spPr>
          <a:xfrm>
            <a:off x="4312921" y="4090912"/>
            <a:ext cx="3474720" cy="431905"/>
          </a:xfrm>
        </p:spPr>
        <p:txBody>
          <a:bodyPr lIns="0" anchor="t">
            <a:normAutofit/>
          </a:bodyPr>
          <a:lstStyle/>
          <a:p>
            <a:r>
              <a:rPr lang="en-US" sz="1600" b="0" dirty="0">
                <a:latin typeface="+mj-lt"/>
              </a:rPr>
              <a:t>Publishers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418EF2-AE62-256B-7356-C22544312A53}"/>
              </a:ext>
            </a:extLst>
          </p:cNvPr>
          <p:cNvSpPr>
            <a:spLocks noGrp="1"/>
          </p:cNvSpPr>
          <p:nvPr>
            <p:ph type="body" idx="16"/>
            <p:custDataLst>
              <p:tags r:id="rId8"/>
            </p:custDataLst>
          </p:nvPr>
        </p:nvSpPr>
        <p:spPr>
          <a:xfrm>
            <a:off x="8016241" y="4090912"/>
            <a:ext cx="3474720" cy="431905"/>
          </a:xfrm>
        </p:spPr>
        <p:txBody>
          <a:bodyPr lIns="0" anchor="t">
            <a:normAutofit/>
          </a:bodyPr>
          <a:lstStyle/>
          <a:p>
            <a:r>
              <a:rPr lang="en-US" sz="1600" b="0" dirty="0">
                <a:latin typeface="+mj-lt"/>
              </a:rPr>
              <a:t>Topics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C3A77F-53C4-E9F5-31CB-3FAFB169E3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1028" name="Picture 4" descr="A Dummies Guide to using AWS SNS for your business case | by Rajesh  Rajamani | Dev Genius">
            <a:extLst>
              <a:ext uri="{FF2B5EF4-FFF2-40B4-BE49-F238E27FC236}">
                <a16:creationId xmlns:a16="http://schemas.microsoft.com/office/drawing/2014/main" id="{D7D9C2AA-956B-0C4B-B960-350CC0C7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48777"/>
            <a:ext cx="4420152" cy="221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ub/sub pattern - AWS Prescriptive Guidance">
            <a:extLst>
              <a:ext uri="{FF2B5EF4-FFF2-40B4-BE49-F238E27FC236}">
                <a16:creationId xmlns:a16="http://schemas.microsoft.com/office/drawing/2014/main" id="{101AF68F-3DA0-67C3-2773-BC9AC1B0F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0" y="1114891"/>
            <a:ext cx="6384040" cy="308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83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2899B83-815B-A871-6B37-5A52DDCF734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Introduksjon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4449C-5303-D6AC-1283-771188148CC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Hva er Amazon SQS?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E432-CAC9-62B3-572B-02BAA5E3E85C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12372" y="4532714"/>
            <a:ext cx="3474720" cy="1647619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Amazon SQS er en købasert meldingsservice som tillater asynkron kommunikasjon.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B616A-2C79-4CDD-6A5D-7C44B4F565A9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312921" y="4534058"/>
            <a:ext cx="3474720" cy="1647619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SQS lar applikasjoner dekomponere i separate tjenester for bedre skalerbarhet.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7F5352-ACE0-4B2F-8FFB-85FCAA104802}"/>
              </a:ext>
            </a:extLst>
          </p:cNvPr>
          <p:cNvSpPr>
            <a:spLocks noGrp="1"/>
          </p:cNvSpPr>
          <p:nvPr>
            <p:ph sz="half" idx="13"/>
            <p:custDataLst>
              <p:tags r:id="rId5"/>
            </p:custDataLst>
          </p:nvPr>
        </p:nvSpPr>
        <p:spPr>
          <a:xfrm>
            <a:off x="8016241" y="4534058"/>
            <a:ext cx="3474720" cy="1647619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Støtter standard og FIFO-køer, sikrer riktig rekkefølge og minst én gang behandling.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4D3D6-E2CF-C0AF-EEE1-8C96DF9A443E}"/>
              </a:ext>
            </a:extLst>
          </p:cNvPr>
          <p:cNvSpPr>
            <a:spLocks noGrp="1"/>
          </p:cNvSpPr>
          <p:nvPr>
            <p:ph type="body" idx="14"/>
            <p:custDataLst>
              <p:tags r:id="rId6"/>
            </p:custDataLst>
          </p:nvPr>
        </p:nvSpPr>
        <p:spPr>
          <a:xfrm>
            <a:off x="612372" y="4089568"/>
            <a:ext cx="3474720" cy="431905"/>
          </a:xfrm>
        </p:spPr>
        <p:txBody>
          <a:bodyPr lIns="0" anchor="t">
            <a:normAutofit/>
          </a:bodyPr>
          <a:lstStyle/>
          <a:p>
            <a:r>
              <a:rPr lang="en-US" sz="1600" b="0">
                <a:latin typeface="+mj-lt"/>
              </a:rPr>
              <a:t>Definisjon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5AADC3-C1D9-84E8-1EE5-096B515415BA}"/>
              </a:ext>
            </a:extLst>
          </p:cNvPr>
          <p:cNvSpPr>
            <a:spLocks noGrp="1"/>
          </p:cNvSpPr>
          <p:nvPr>
            <p:ph type="body" idx="15"/>
            <p:custDataLst>
              <p:tags r:id="rId7"/>
            </p:custDataLst>
          </p:nvPr>
        </p:nvSpPr>
        <p:spPr>
          <a:xfrm>
            <a:off x="4312921" y="4090912"/>
            <a:ext cx="3474720" cy="431905"/>
          </a:xfrm>
        </p:spPr>
        <p:txBody>
          <a:bodyPr lIns="0" anchor="t">
            <a:normAutofit/>
          </a:bodyPr>
          <a:lstStyle/>
          <a:p>
            <a:r>
              <a:rPr lang="en-US" sz="1600" b="0">
                <a:latin typeface="+mj-lt"/>
              </a:rPr>
              <a:t>Use-case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418EF2-AE62-256B-7356-C22544312A53}"/>
              </a:ext>
            </a:extLst>
          </p:cNvPr>
          <p:cNvSpPr>
            <a:spLocks noGrp="1"/>
          </p:cNvSpPr>
          <p:nvPr>
            <p:ph type="body" idx="16"/>
            <p:custDataLst>
              <p:tags r:id="rId8"/>
            </p:custDataLst>
          </p:nvPr>
        </p:nvSpPr>
        <p:spPr>
          <a:xfrm>
            <a:off x="8016241" y="4090912"/>
            <a:ext cx="3474720" cy="431905"/>
          </a:xfrm>
        </p:spPr>
        <p:txBody>
          <a:bodyPr lIns="0" anchor="t">
            <a:normAutofit/>
          </a:bodyPr>
          <a:lstStyle/>
          <a:p>
            <a:r>
              <a:rPr lang="en-US" sz="1600" b="0">
                <a:latin typeface="+mj-lt"/>
              </a:rPr>
              <a:t>Hovedfunksjoner</a:t>
            </a:r>
          </a:p>
        </p:txBody>
      </p:sp>
      <p:pic>
        <p:nvPicPr>
          <p:cNvPr id="11" name="Picture Placeholder 16" descr="A building with a tower&#10;&#10;Description automatically generated">
            <a:extLst>
              <a:ext uri="{FF2B5EF4-FFF2-40B4-BE49-F238E27FC236}">
                <a16:creationId xmlns:a16="http://schemas.microsoft.com/office/drawing/2014/main" id="{CD735CF0-0668-15D0-E746-B74E42E749D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496" b="14496"/>
          <a:stretch/>
        </p:blipFill>
        <p:spPr>
          <a:xfrm>
            <a:off x="8016241" y="1496329"/>
            <a:ext cx="3566159" cy="253224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AC3A77F-53C4-E9F5-31CB-3FAFB169E34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4098" name="Picture 2" descr="AWS SQS ReceiveMessage: Syntax, Parameters &amp; Examples | Hevo">
            <a:extLst>
              <a:ext uri="{FF2B5EF4-FFF2-40B4-BE49-F238E27FC236}">
                <a16:creationId xmlns:a16="http://schemas.microsoft.com/office/drawing/2014/main" id="{F483490F-4B50-9FAA-6CA3-04F7BEDFE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53" y="1408599"/>
            <a:ext cx="6154353" cy="257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97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Typer av SQS-køer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DAD59D-6660-E3CC-EBBD-8F9A58AAA134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1604980"/>
            <a:ext cx="5120640" cy="677543"/>
          </a:xfrm>
        </p:spPr>
        <p:txBody>
          <a:bodyPr/>
          <a:lstStyle/>
          <a:p>
            <a:r>
              <a:rPr lang="en-US" b="0" dirty="0">
                <a:latin typeface="+mj-lt"/>
              </a:rPr>
              <a:t>Standard Kø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11BD-1796-5EBC-FAC3-5CDD146B1139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9600" y="2394284"/>
            <a:ext cx="5120640" cy="389475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Ubegrenset gjennomstrømning
Minst-én-gangs levering
Hendelser kan komme i tilfeldig rekkefølge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DB6D4-ED85-3BE7-8A4B-9990F88085F9}"/>
              </a:ext>
            </a:extLst>
          </p:cNvPr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096001" y="1604980"/>
            <a:ext cx="5120640" cy="677543"/>
          </a:xfrm>
        </p:spPr>
        <p:txBody>
          <a:bodyPr/>
          <a:lstStyle/>
          <a:p>
            <a:r>
              <a:rPr lang="en-US" b="0">
                <a:latin typeface="+mj-lt"/>
              </a:rPr>
              <a:t>FIFO Kø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E15B0-B4BD-0C40-EECE-D127CDC241DA}"/>
              </a:ext>
            </a:extLst>
          </p:cNvPr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096000" y="2394284"/>
            <a:ext cx="5120640" cy="389475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Garantert rekkefølge
Akkurat-én-gangs levering
Ideell for oppgaver der rekkefølge er viktig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A1649-838B-F2D3-A35B-7C6DB8137E7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B9BA6-3C2D-AC93-3A48-4724EE10041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SQS</a:t>
            </a:r>
          </a:p>
        </p:txBody>
      </p:sp>
    </p:spTree>
    <p:extLst>
      <p:ext uri="{BB962C8B-B14F-4D97-AF65-F5344CB8AC3E}">
        <p14:creationId xmlns:p14="http://schemas.microsoft.com/office/powerpoint/2010/main" val="139164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A508F96-C662-448B-1EFD-E82F3CF75F9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SQS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>
            <a:normAutofit/>
          </a:bodyPr>
          <a:lstStyle/>
          <a:p>
            <a:r>
              <a:rPr lang="en-US"/>
              <a:t>Hvordan SQS fungerer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4DE25-5666-B033-6C5F-56853D33C2B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5270" y="2800640"/>
            <a:ext cx="2642616" cy="1803704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Diagram som viser forholdet mellom produsent, kø og forbruker.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3D164-34EA-CCC6-0D04-370EF0F48223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381998" y="2800640"/>
            <a:ext cx="2642616" cy="1803704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SendMessage er en nøkkeloperasjon for å sende meldinger til køen.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4"/>
            <p:custDataLst>
              <p:tags r:id="rId5"/>
            </p:custDataLst>
          </p:nvPr>
        </p:nvSpPr>
        <p:spPr>
          <a:xfrm>
            <a:off x="605270" y="2071771"/>
            <a:ext cx="2642616" cy="622145"/>
          </a:xfrm>
        </p:spPr>
        <p:txBody>
          <a:bodyPr>
            <a:normAutofit/>
          </a:bodyPr>
          <a:lstStyle/>
          <a:p>
            <a:r>
              <a:rPr lang="en-US" sz="1800" b="0"/>
              <a:t>SQS Arkitektur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5"/>
            <p:custDataLst>
              <p:tags r:id="rId6"/>
            </p:custDataLst>
          </p:nvPr>
        </p:nvSpPr>
        <p:spPr>
          <a:xfrm>
            <a:off x="3381998" y="2071771"/>
            <a:ext cx="2642616" cy="622145"/>
          </a:xfrm>
        </p:spPr>
        <p:txBody>
          <a:bodyPr>
            <a:normAutofit/>
          </a:bodyPr>
          <a:lstStyle/>
          <a:p>
            <a:r>
              <a:rPr lang="en-US" sz="1800" b="0"/>
              <a:t>SendMessage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8CA6F2-A08C-9780-2FF1-33D610FBC6F0}"/>
              </a:ext>
            </a:extLst>
          </p:cNvPr>
          <p:cNvSpPr>
            <a:spLocks noGrp="1"/>
          </p:cNvSpPr>
          <p:nvPr>
            <p:ph sz="half" idx="16"/>
            <p:custDataLst>
              <p:tags r:id="rId7"/>
            </p:custDataLst>
          </p:nvPr>
        </p:nvSpPr>
        <p:spPr>
          <a:xfrm>
            <a:off x="6158726" y="2800640"/>
            <a:ext cx="2642616" cy="1803704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ReceiveMessage er essensielt for å hente meldinger fra køen.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78047-B10F-BD6D-AF9D-58DD30A86E36}"/>
              </a:ext>
            </a:extLst>
          </p:cNvPr>
          <p:cNvSpPr>
            <a:spLocks noGrp="1"/>
          </p:cNvSpPr>
          <p:nvPr>
            <p:ph sz="half" idx="17"/>
            <p:custDataLst>
              <p:tags r:id="rId8"/>
            </p:custDataLst>
          </p:nvPr>
        </p:nvSpPr>
        <p:spPr>
          <a:xfrm>
            <a:off x="8935454" y="2802742"/>
            <a:ext cx="2642616" cy="1803704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DeleteMessage brukes for å slette meldinger etter at de er behandlet.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8"/>
            <p:custDataLst>
              <p:tags r:id="rId9"/>
            </p:custDataLst>
          </p:nvPr>
        </p:nvSpPr>
        <p:spPr>
          <a:xfrm>
            <a:off x="6158726" y="2071771"/>
            <a:ext cx="2642616" cy="622145"/>
          </a:xfrm>
        </p:spPr>
        <p:txBody>
          <a:bodyPr>
            <a:normAutofit/>
          </a:bodyPr>
          <a:lstStyle/>
          <a:p>
            <a:r>
              <a:rPr lang="en-US" sz="1800" b="0"/>
              <a:t>ReceiveMessage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BD0E6-D218-A1EB-6E8E-CC61B22CB9B8}"/>
              </a:ext>
            </a:extLst>
          </p:cNvPr>
          <p:cNvSpPr>
            <a:spLocks noGrp="1"/>
          </p:cNvSpPr>
          <p:nvPr>
            <p:ph type="body" idx="19"/>
            <p:custDataLst>
              <p:tags r:id="rId10"/>
            </p:custDataLst>
          </p:nvPr>
        </p:nvSpPr>
        <p:spPr>
          <a:xfrm>
            <a:off x="8935454" y="2071771"/>
            <a:ext cx="2642616" cy="6221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b="0"/>
              <a:t>DeleteMessage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75A5D7-9F83-0E4A-F3A9-1A4E45E16C2D}"/>
              </a:ext>
            </a:extLst>
          </p:cNvPr>
          <p:cNvCxnSpPr/>
          <p:nvPr/>
        </p:nvCxnSpPr>
        <p:spPr>
          <a:xfrm>
            <a:off x="0" y="1834667"/>
            <a:ext cx="12192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2F359DF-6FDF-A7FA-05E3-CD4DC2F102FD}"/>
              </a:ext>
            </a:extLst>
          </p:cNvPr>
          <p:cNvSpPr/>
          <p:nvPr/>
        </p:nvSpPr>
        <p:spPr>
          <a:xfrm>
            <a:off x="609602" y="1685477"/>
            <a:ext cx="298383" cy="29838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endParaRPr lang="en-US" sz="1351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72F725-08AE-4624-7741-5360BAEAA25E}"/>
              </a:ext>
            </a:extLst>
          </p:cNvPr>
          <p:cNvSpPr/>
          <p:nvPr/>
        </p:nvSpPr>
        <p:spPr>
          <a:xfrm>
            <a:off x="3381678" y="1685477"/>
            <a:ext cx="298383" cy="298383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endParaRPr lang="en-US" sz="1351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F1E3DE-8E74-7D22-8F44-F36745A6EE75}"/>
              </a:ext>
            </a:extLst>
          </p:cNvPr>
          <p:cNvSpPr/>
          <p:nvPr/>
        </p:nvSpPr>
        <p:spPr>
          <a:xfrm>
            <a:off x="6153754" y="1685477"/>
            <a:ext cx="298383" cy="29838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endParaRPr lang="en-US" sz="135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03CFC9-342B-5634-A73F-D80362C5CE8E}"/>
              </a:ext>
            </a:extLst>
          </p:cNvPr>
          <p:cNvSpPr/>
          <p:nvPr/>
        </p:nvSpPr>
        <p:spPr>
          <a:xfrm>
            <a:off x="8935454" y="1685477"/>
            <a:ext cx="298383" cy="29838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endParaRPr lang="en-US" sz="135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C8B-65AD-8940-1241-4170F86A2A2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38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2E93C0-D213-5FB4-223B-AE2AD5F24E54}"/>
              </a:ext>
            </a:extLst>
          </p:cNvPr>
          <p:cNvSpPr/>
          <p:nvPr/>
        </p:nvSpPr>
        <p:spPr>
          <a:xfrm>
            <a:off x="-177" y="-1"/>
            <a:ext cx="40450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A48C6-AA9A-1D09-0830-E327473D9E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AWS Lambda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0"/>
            <a:ext cx="2946360" cy="5435600"/>
          </a:xfrm>
        </p:spPr>
        <p:txBody>
          <a:bodyPr>
            <a:normAutofit/>
          </a:bodyPr>
          <a:lstStyle/>
          <a:p>
            <a:r>
              <a:rPr lang="en-US" dirty="0" err="1"/>
              <a:t>Hva</a:t>
            </a:r>
            <a:r>
              <a:rPr lang="en-US" dirty="0"/>
              <a:t> er AWS Lambda?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788DD44-AE73-33B6-4635-9B8D5137E60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73779" y="468868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 dirty="0"/>
              <a:t>AWS Lambda er </a:t>
            </a:r>
            <a:r>
              <a:rPr lang="en-US" sz="1500" dirty="0" err="1"/>
              <a:t>en</a:t>
            </a:r>
            <a:r>
              <a:rPr lang="en-US" sz="1500" dirty="0"/>
              <a:t> serverless </a:t>
            </a:r>
            <a:r>
              <a:rPr lang="en-US" sz="1500" dirty="0" err="1"/>
              <a:t>datatjeneste</a:t>
            </a:r>
            <a:r>
              <a:rPr lang="en-US" sz="1500" dirty="0"/>
              <a:t> </a:t>
            </a:r>
            <a:r>
              <a:rPr lang="en-US" sz="1500" dirty="0" err="1"/>
              <a:t>som</a:t>
            </a:r>
            <a:r>
              <a:rPr lang="en-US" sz="1500" dirty="0"/>
              <a:t> lar deg </a:t>
            </a:r>
            <a:r>
              <a:rPr lang="en-US" sz="1500" dirty="0" err="1"/>
              <a:t>kjøre</a:t>
            </a:r>
            <a:r>
              <a:rPr lang="en-US" sz="1500" dirty="0"/>
              <a:t> </a:t>
            </a:r>
            <a:r>
              <a:rPr lang="en-US" sz="1500" dirty="0" err="1"/>
              <a:t>kode</a:t>
            </a:r>
            <a:r>
              <a:rPr lang="en-US" sz="1500" dirty="0"/>
              <a:t> </a:t>
            </a:r>
            <a:r>
              <a:rPr lang="en-US" sz="1500" dirty="0" err="1"/>
              <a:t>uten</a:t>
            </a:r>
            <a:r>
              <a:rPr lang="en-US" sz="1500" dirty="0"/>
              <a:t> </a:t>
            </a:r>
            <a:r>
              <a:rPr lang="en-US" sz="1500" dirty="0" err="1"/>
              <a:t>å</a:t>
            </a:r>
            <a:r>
              <a:rPr lang="en-US" sz="1500" dirty="0"/>
              <a:t> </a:t>
            </a:r>
            <a:r>
              <a:rPr lang="en-US" sz="1500" dirty="0" err="1"/>
              <a:t>administrere</a:t>
            </a:r>
            <a:r>
              <a:rPr lang="en-US" sz="1500" dirty="0"/>
              <a:t> </a:t>
            </a:r>
            <a:r>
              <a:rPr lang="en-US" sz="1500" dirty="0" err="1"/>
              <a:t>servere</a:t>
            </a:r>
            <a:r>
              <a:rPr lang="en-US" sz="1500" dirty="0"/>
              <a:t>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595EC02-957F-FE81-2C9F-5A8C787B445F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773778" y="2474714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Ingen serveradministrasjon. Lambda skalerer automatisk i henhold til etterspørselen.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262DC19F-B03F-FD9C-64D4-837E89CE392B}"/>
              </a:ext>
            </a:extLst>
          </p:cNvPr>
          <p:cNvSpPr>
            <a:spLocks noGrp="1"/>
          </p:cNvSpPr>
          <p:nvPr>
            <p:ph sz="half" idx="13"/>
            <p:custDataLst>
              <p:tags r:id="rId5"/>
            </p:custDataLst>
          </p:nvPr>
        </p:nvSpPr>
        <p:spPr>
          <a:xfrm>
            <a:off x="6773778" y="4480560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Du betaler kun for den tiden koden din kjører, ikke for inaktiv tid.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4"/>
            <p:custDataLst>
              <p:tags r:id="rId6"/>
            </p:custDataLst>
          </p:nvPr>
        </p:nvSpPr>
        <p:spPr>
          <a:xfrm>
            <a:off x="5028112" y="468866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 dirty="0" err="1">
                <a:latin typeface="+mj-lt"/>
              </a:rPr>
              <a:t>Definisjon</a:t>
            </a:r>
            <a:endParaRPr lang="en-US" sz="1500" b="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5"/>
            <p:custDataLst>
              <p:tags r:id="rId7"/>
            </p:custDataLst>
          </p:nvPr>
        </p:nvSpPr>
        <p:spPr>
          <a:xfrm>
            <a:off x="5028112" y="2474714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Fordeler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6"/>
            <p:custDataLst>
              <p:tags r:id="rId8"/>
            </p:custDataLst>
          </p:nvPr>
        </p:nvSpPr>
        <p:spPr>
          <a:xfrm>
            <a:off x="5028112" y="4480560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Betal per bruk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4DFC7-C861-C967-C0CE-7990949D9E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50666-EF2A-25FF-33FB-7652A907C850}"/>
              </a:ext>
            </a:extLst>
          </p:cNvPr>
          <p:cNvSpPr txBox="1"/>
          <p:nvPr/>
        </p:nvSpPr>
        <p:spPr>
          <a:xfrm>
            <a:off x="4217307" y="468866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FBC15-F158-6986-2CDF-05CDE56DD4FB}"/>
              </a:ext>
            </a:extLst>
          </p:cNvPr>
          <p:cNvSpPr txBox="1"/>
          <p:nvPr/>
        </p:nvSpPr>
        <p:spPr>
          <a:xfrm>
            <a:off x="4217307" y="2478140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E883E-9DCA-2FEA-ED38-A301BADB1863}"/>
              </a:ext>
            </a:extLst>
          </p:cNvPr>
          <p:cNvSpPr txBox="1"/>
          <p:nvPr/>
        </p:nvSpPr>
        <p:spPr>
          <a:xfrm>
            <a:off x="4217307" y="4480560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03</a:t>
            </a:r>
          </a:p>
        </p:txBody>
      </p:sp>
      <p:pic>
        <p:nvPicPr>
          <p:cNvPr id="5128" name="Picture 8" descr="AWS Lambda – ExpandAPIs">
            <a:extLst>
              <a:ext uri="{FF2B5EF4-FFF2-40B4-BE49-F238E27FC236}">
                <a16:creationId xmlns:a16="http://schemas.microsoft.com/office/drawing/2014/main" id="{EC07F7A2-E367-A6F5-C111-7D1803641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226" y="3504289"/>
            <a:ext cx="4095451" cy="230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07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2E64D0-4370-85F3-EF4C-0B6CC84D5DB0}"/>
              </a:ext>
            </a:extLst>
          </p:cNvPr>
          <p:cNvSpPr/>
          <p:nvPr/>
        </p:nvSpPr>
        <p:spPr>
          <a:xfrm>
            <a:off x="-177" y="-1"/>
            <a:ext cx="40450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3C79D-0541-BA11-F04E-40B9C2C258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3134061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Lambda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0"/>
            <a:ext cx="2946360" cy="5440943"/>
          </a:xfrm>
        </p:spPr>
        <p:txBody>
          <a:bodyPr>
            <a:normAutofit/>
          </a:bodyPr>
          <a:lstStyle/>
          <a:p>
            <a:r>
              <a:rPr lang="en-US"/>
              <a:t>Viktige Lambda-konsepter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11BD-1796-5EBC-FAC3-5CDD146B1139}"/>
              </a:ext>
            </a:extLst>
          </p:cNvPr>
          <p:cNvSpPr>
            <a:spLocks noGrp="1"/>
          </p:cNvSpPr>
          <p:nvPr>
            <p:ph sz="half" idx="14"/>
            <p:custDataLst>
              <p:tags r:id="rId3"/>
            </p:custDataLst>
          </p:nvPr>
        </p:nvSpPr>
        <p:spPr>
          <a:xfrm>
            <a:off x="6669741" y="468868"/>
            <a:ext cx="4912658" cy="2926080"/>
          </a:xfrm>
        </p:spPr>
        <p:txBody>
          <a:bodyPr anchor="t">
            <a:noAutofit/>
          </a:bodyPr>
          <a:lstStyle/>
          <a:p>
            <a:pPr marL="296863" indent="-28575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/>
              <a:t>Lambda-funksjoner er kode som kjøres i skyen.
Triggere aktiverer funksjoner basert på hendelser.
Vanlige triggere inkluderer SNS og SQS.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E15B0-B4BD-0C40-EECE-D127CDC241DA}"/>
              </a:ext>
            </a:extLst>
          </p:cNvPr>
          <p:cNvSpPr>
            <a:spLocks noGrp="1"/>
          </p:cNvSpPr>
          <p:nvPr>
            <p:ph sz="half" idx="15"/>
            <p:custDataLst>
              <p:tags r:id="rId4"/>
            </p:custDataLst>
          </p:nvPr>
        </p:nvSpPr>
        <p:spPr>
          <a:xfrm>
            <a:off x="6669741" y="3474720"/>
            <a:ext cx="4912658" cy="2926080"/>
          </a:xfrm>
        </p:spPr>
        <p:txBody>
          <a:bodyPr anchor="t">
            <a:normAutofit/>
          </a:bodyPr>
          <a:lstStyle/>
          <a:p>
            <a:pPr marL="296863" indent="-28575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/>
              <a:t>Lambda kjører i et isolert miljø for sikkerhet.
Støtter flere språk: Python, Node.js, Java, C#.
Automatisk skalering basert på forespørsel.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DAD59D-6660-E3CC-EBBD-8F9A58AAA134}"/>
              </a:ext>
            </a:extLst>
          </p:cNvPr>
          <p:cNvSpPr>
            <a:spLocks noGrp="1"/>
          </p:cNvSpPr>
          <p:nvPr>
            <p:ph type="body" idx="17"/>
            <p:custDataLst>
              <p:tags r:id="rId5"/>
            </p:custDataLst>
          </p:nvPr>
        </p:nvSpPr>
        <p:spPr>
          <a:xfrm>
            <a:off x="4855680" y="468867"/>
            <a:ext cx="1765267" cy="2926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0" dirty="0">
                <a:solidFill>
                  <a:schemeClr val="tx2"/>
                </a:solidFill>
                <a:latin typeface="+mj-lt"/>
              </a:rPr>
              <a:t>Funksjoner og triggere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DB6D4-ED85-3BE7-8A4B-9990F88085F9}"/>
              </a:ext>
            </a:extLst>
          </p:cNvPr>
          <p:cNvSpPr>
            <a:spLocks noGrp="1"/>
          </p:cNvSpPr>
          <p:nvPr>
            <p:ph type="body" idx="18"/>
            <p:custDataLst>
              <p:tags r:id="rId6"/>
            </p:custDataLst>
          </p:nvPr>
        </p:nvSpPr>
        <p:spPr>
          <a:xfrm>
            <a:off x="4855680" y="3474720"/>
            <a:ext cx="1765267" cy="2926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solidFill>
                  <a:schemeClr val="tx2"/>
                </a:solidFill>
                <a:latin typeface="+mj-lt"/>
              </a:rPr>
              <a:t>Utførelsesmiljø og programmeringsspråk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F83028-B71F-D543-D00E-40F17FA1254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65250" y="542869"/>
            <a:ext cx="274320" cy="2743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E3399F0-D756-19DD-B624-146CDF75913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68800" y="3529647"/>
            <a:ext cx="274320" cy="2743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386B71-A298-AB77-C4FC-216AB1DF307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4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Hvordan Lambda integrerer med SNS og SQS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DAD59D-6660-E3CC-EBBD-8F9A58AAA134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2014552"/>
            <a:ext cx="5120640" cy="536712"/>
          </a:xfrm>
        </p:spPr>
        <p:txBody>
          <a:bodyPr anchor="ctr">
            <a:normAutofit/>
          </a:bodyPr>
          <a:lstStyle/>
          <a:p>
            <a:r>
              <a:rPr lang="en-US" sz="1800" b="0">
                <a:latin typeface="+mj-lt"/>
              </a:rPr>
              <a:t>SNS og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11BD-1796-5EBC-FAC3-5CDD146B1139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9600" y="2630779"/>
            <a:ext cx="5120640" cy="35372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n-US" sz="1500"/>
              <a:t>SNS trigges ved publisering av meldinger, som deretter utløser Lambda-funksjoner.
Lambda kan utføre spesifikke oppgaver som svar på SNS-hendelser.
Gir mulighet for realtidsbehandling og raske responser.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DB6D4-ED85-3BE7-8A4B-9990F88085F9}"/>
              </a:ext>
            </a:extLst>
          </p:cNvPr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096001" y="2014552"/>
            <a:ext cx="5120640" cy="536712"/>
          </a:xfrm>
        </p:spPr>
        <p:txBody>
          <a:bodyPr anchor="ctr">
            <a:normAutofit/>
          </a:bodyPr>
          <a:lstStyle/>
          <a:p>
            <a:r>
              <a:rPr lang="en-US" sz="1800" b="0">
                <a:latin typeface="+mj-lt"/>
              </a:rPr>
              <a:t>SQS og Lambda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E15B0-B4BD-0C40-EECE-D127CDC241DA}"/>
              </a:ext>
            </a:extLst>
          </p:cNvPr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096000" y="2630779"/>
            <a:ext cx="5120640" cy="35372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n-US" sz="1500"/>
              <a:t>SQS håndterer kømeldinger asynkront, noe som sikrer robust databehandling.
Lambda prosesserer meldinger fra SQS uten å blokkere ressurser.
Sammen skaper de en skalerbar og pålitelig arkitektur.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9F4CCD5-D1C1-E5DE-F1FA-00C6682F666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6975" y="1647998"/>
            <a:ext cx="320040" cy="3200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C67AF2-3477-A971-9195-BD7CEC6E43F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59306" y="1647998"/>
            <a:ext cx="320040" cy="3200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F403A0-6997-F796-C62F-608963E77F3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AB6D9-B4EF-D1A6-99ED-1421720275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Integrasjon</a:t>
            </a:r>
          </a:p>
        </p:txBody>
      </p:sp>
    </p:spTree>
    <p:extLst>
      <p:ext uri="{BB962C8B-B14F-4D97-AF65-F5344CB8AC3E}">
        <p14:creationId xmlns:p14="http://schemas.microsoft.com/office/powerpoint/2010/main" val="234368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9E1D440-C3D6-A55A-A6D6-8232BF816C8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Praktiske eksempler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>
            <a:normAutofit/>
          </a:bodyPr>
          <a:lstStyle/>
          <a:p>
            <a:r>
              <a:rPr lang="en-US"/>
              <a:t>Reelle brukstilfeller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4DE25-5666-B033-6C5F-56853D33C2B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9600" y="2501464"/>
            <a:ext cx="2642616" cy="1887657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 dirty="0"/>
              <a:t>En e-handelsplattform som håndterer kundeordrer ved hjelp av meldings- og køsystemer for å sikre effektiv behandling og oppdatering av lager.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3D164-34EA-CCC6-0D04-370EF0F48223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386328" y="2501464"/>
            <a:ext cx="2642616" cy="1887657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Samler inn og analyserer logger fra ulike applikasjoner for å oppnå innsikt og forbedre systemytelsen.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4"/>
            <p:custDataLst>
              <p:tags r:id="rId5"/>
            </p:custDataLst>
          </p:nvPr>
        </p:nvSpPr>
        <p:spPr>
          <a:xfrm>
            <a:off x="609600" y="1412241"/>
            <a:ext cx="2642616" cy="900137"/>
          </a:xfrm>
        </p:spPr>
        <p:txBody>
          <a:bodyPr>
            <a:normAutofit/>
          </a:bodyPr>
          <a:lstStyle/>
          <a:p>
            <a:r>
              <a:rPr lang="en-US" sz="1800" b="0">
                <a:solidFill>
                  <a:schemeClr val="accent1"/>
                </a:solidFill>
              </a:rPr>
              <a:t>Ordrebehandlingssystem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5"/>
            <p:custDataLst>
              <p:tags r:id="rId6"/>
            </p:custDataLst>
          </p:nvPr>
        </p:nvSpPr>
        <p:spPr>
          <a:xfrm>
            <a:off x="3386328" y="1412241"/>
            <a:ext cx="2642616" cy="900137"/>
          </a:xfrm>
        </p:spPr>
        <p:txBody>
          <a:bodyPr>
            <a:normAutofit/>
          </a:bodyPr>
          <a:lstStyle/>
          <a:p>
            <a:r>
              <a:rPr lang="en-US" sz="1800" b="0" dirty="0" err="1"/>
              <a:t>Aggregering</a:t>
            </a:r>
            <a:r>
              <a:rPr lang="en-US" sz="1800" b="0" dirty="0"/>
              <a:t> </a:t>
            </a:r>
            <a:r>
              <a:rPr lang="en-US" sz="1800" b="0" dirty="0" err="1"/>
              <a:t>og</a:t>
            </a:r>
            <a:r>
              <a:rPr lang="en-US" sz="1800" b="0" dirty="0"/>
              <a:t> </a:t>
            </a:r>
            <a:r>
              <a:rPr lang="en-US" sz="1800" b="0" dirty="0" err="1"/>
              <a:t>analyse</a:t>
            </a:r>
            <a:endParaRPr lang="en-US" sz="1800" b="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8CA6F2-A08C-9780-2FF1-33D610FBC6F0}"/>
              </a:ext>
            </a:extLst>
          </p:cNvPr>
          <p:cNvSpPr>
            <a:spLocks noGrp="1"/>
          </p:cNvSpPr>
          <p:nvPr>
            <p:ph sz="half" idx="16"/>
            <p:custDataLst>
              <p:tags r:id="rId7"/>
            </p:custDataLst>
          </p:nvPr>
        </p:nvSpPr>
        <p:spPr>
          <a:xfrm>
            <a:off x="6163056" y="2501464"/>
            <a:ext cx="2642616" cy="1887657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Behandler og lagrer brukerlaste opp bilder i en fotoapp, inkludert endringer som resizing og vannmerking.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78047-B10F-BD6D-AF9D-58DD30A86E36}"/>
              </a:ext>
            </a:extLst>
          </p:cNvPr>
          <p:cNvSpPr>
            <a:spLocks noGrp="1"/>
          </p:cNvSpPr>
          <p:nvPr>
            <p:ph sz="half" idx="17"/>
            <p:custDataLst>
              <p:tags r:id="rId8"/>
            </p:custDataLst>
          </p:nvPr>
        </p:nvSpPr>
        <p:spPr>
          <a:xfrm>
            <a:off x="8939784" y="2503565"/>
            <a:ext cx="2642616" cy="1887657"/>
          </a:xfrm>
        </p:spPr>
        <p:txBody>
          <a:bodyPr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400"/>
              <a:t>Håndterer sanntidsdata fra aksjemarkedet for å oppdatere dashbord med oppdaterte beregninger og analyser.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8"/>
            <p:custDataLst>
              <p:tags r:id="rId9"/>
            </p:custDataLst>
          </p:nvPr>
        </p:nvSpPr>
        <p:spPr>
          <a:xfrm>
            <a:off x="6163056" y="1412241"/>
            <a:ext cx="2642616" cy="900137"/>
          </a:xfrm>
        </p:spPr>
        <p:txBody>
          <a:bodyPr>
            <a:normAutofit/>
          </a:bodyPr>
          <a:lstStyle/>
          <a:p>
            <a:r>
              <a:rPr lang="en-US" sz="1800" b="0" dirty="0" err="1"/>
              <a:t>Bildebehandlingpipeline</a:t>
            </a: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BD0E6-D218-A1EB-6E8E-CC61B22CB9B8}"/>
              </a:ext>
            </a:extLst>
          </p:cNvPr>
          <p:cNvSpPr>
            <a:spLocks noGrp="1"/>
          </p:cNvSpPr>
          <p:nvPr>
            <p:ph type="body" idx="19"/>
            <p:custDataLst>
              <p:tags r:id="rId10"/>
            </p:custDataLst>
          </p:nvPr>
        </p:nvSpPr>
        <p:spPr>
          <a:xfrm>
            <a:off x="8939784" y="1412241"/>
            <a:ext cx="2642616" cy="900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b="0"/>
              <a:t>Sanntidsdatabehandling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CDF54A4B-FA69-4AC9-6A6A-F1EB6ECDE920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609600" y="4513144"/>
            <a:ext cx="2642616" cy="15604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96863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1pPr>
            <a:lvl2pPr marL="6286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2pPr>
            <a:lvl3pPr marL="10858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4pPr>
            <a:lvl5pPr marL="2001838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accent1"/>
                </a:solidFill>
                <a:latin typeface="+mn-lt"/>
              </a:rPr>
              <a:t>SNS-varsler
SQS-kø for ordredetaljer
Lambda-funksjon for ordreprosessering og lageroppdatering
Bekreftelses-e-post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755EE44-C77F-5536-E756-39C8886586B6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3386328" y="4513144"/>
            <a:ext cx="2642616" cy="15604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96863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1pPr>
            <a:lvl2pPr marL="6286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2pPr>
            <a:lvl3pPr marL="10858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4pPr>
            <a:lvl5pPr marL="2001838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SNS-varsler ved nye logger
SQS-kø for loggdata
Lambda-funksjon for logganalyse
Lagring av analyseresultater i database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01646E09-C250-9754-540E-BAFFBFEE2F7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6163056" y="4513144"/>
            <a:ext cx="2642616" cy="15604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96863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1pPr>
            <a:lvl2pPr marL="6286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2pPr>
            <a:lvl3pPr marL="10858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4pPr>
            <a:lvl5pPr marL="2001838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SNS-varsler ved nye opplastninger
SQS-kø for bildebehandling
Lambda-funksjon for bildeprosessering
Lagring av behandlede bilder i S3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17217346-A6B1-5155-6D62-9B3CF159BF8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8939784" y="4515247"/>
            <a:ext cx="2642616" cy="15604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96863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1pPr>
            <a:lvl2pPr marL="6286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2pPr>
            <a:lvl3pPr marL="10858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4pPr>
            <a:lvl5pPr marL="2001838" indent="-285750" algn="l" defTabSz="914377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tx2"/>
                </a:solidFill>
                <a:latin typeface="+mn-lt"/>
              </a:rPr>
              <a:t>SNS-varsler ved nye data
SQS-kø for databehandling
Lambda-funksjon for beregninger
Oppdatering av sanntidsdashbord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D5417E-2817-2861-7159-F30A15B85EE7}"/>
              </a:ext>
            </a:extLst>
          </p:cNvPr>
          <p:cNvCxnSpPr>
            <a:cxnSpLocks/>
          </p:cNvCxnSpPr>
          <p:nvPr/>
        </p:nvCxnSpPr>
        <p:spPr>
          <a:xfrm>
            <a:off x="657729" y="2391307"/>
            <a:ext cx="128016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7342668-F254-BEDC-FD81-E074B31F722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666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F86292A-A7CF-366F-06B6-FF229847C93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Oppsummering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>
            <a:normAutofit/>
          </a:bodyPr>
          <a:lstStyle/>
          <a:p>
            <a:r>
              <a:rPr lang="en-US"/>
              <a:t>Viktige punkter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4DE25-5666-B033-6C5F-56853D33C2B7}"/>
              </a:ext>
            </a:extLst>
          </p:cNvPr>
          <p:cNvSpPr>
            <a:spLocks noGrp="1"/>
          </p:cNvSpPr>
          <p:nvPr>
            <p:ph sz="half" idx="14"/>
            <p:custDataLst>
              <p:tags r:id="rId3"/>
            </p:custDataLst>
          </p:nvPr>
        </p:nvSpPr>
        <p:spPr>
          <a:xfrm>
            <a:off x="3808073" y="1676944"/>
            <a:ext cx="7774327" cy="105156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/>
              <a:t>Event-Driven Architecture (EDA) gir fleksibilitet og respons i moderne applikasjoner.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3D164-34EA-CCC6-0D04-370EF0F48223}"/>
              </a:ext>
            </a:extLst>
          </p:cNvPr>
          <p:cNvSpPr>
            <a:spLocks noGrp="1"/>
          </p:cNvSpPr>
          <p:nvPr>
            <p:ph sz="half" idx="15"/>
            <p:custDataLst>
              <p:tags r:id="rId4"/>
            </p:custDataLst>
          </p:nvPr>
        </p:nvSpPr>
        <p:spPr>
          <a:xfrm>
            <a:off x="3808073" y="2832246"/>
            <a:ext cx="7774327" cy="105156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/>
              <a:t>Bruk SNS for å sende meldinger til mange abonnenter samtidig.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8CA6F2-A08C-9780-2FF1-33D610FBC6F0}"/>
              </a:ext>
            </a:extLst>
          </p:cNvPr>
          <p:cNvSpPr>
            <a:spLocks noGrp="1"/>
          </p:cNvSpPr>
          <p:nvPr>
            <p:ph sz="half" idx="16"/>
            <p:custDataLst>
              <p:tags r:id="rId5"/>
            </p:custDataLst>
          </p:nvPr>
        </p:nvSpPr>
        <p:spPr>
          <a:xfrm>
            <a:off x="3808073" y="3987548"/>
            <a:ext cx="7774327" cy="105156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/>
              <a:t>SQS hjelper med å dele oppgaver og håndtere oppgavekøer.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7"/>
            <p:custDataLst>
              <p:tags r:id="rId6"/>
            </p:custDataLst>
          </p:nvPr>
        </p:nvSpPr>
        <p:spPr>
          <a:xfrm>
            <a:off x="1304542" y="1676944"/>
            <a:ext cx="2377441" cy="1054100"/>
          </a:xfrm>
        </p:spPr>
        <p:txBody>
          <a:bodyPr anchor="t">
            <a:normAutofit/>
          </a:bodyPr>
          <a:lstStyle/>
          <a:p>
            <a:r>
              <a:rPr lang="en-US" sz="1700" b="0" dirty="0">
                <a:solidFill>
                  <a:schemeClr val="tx2"/>
                </a:solidFill>
                <a:latin typeface="+mj-lt"/>
              </a:rPr>
              <a:t>Viktigheten av EDA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8"/>
            <p:custDataLst>
              <p:tags r:id="rId7"/>
            </p:custDataLst>
          </p:nvPr>
        </p:nvSpPr>
        <p:spPr>
          <a:xfrm>
            <a:off x="1304544" y="2833939"/>
            <a:ext cx="2377441" cy="1051560"/>
          </a:xfrm>
        </p:spPr>
        <p:txBody>
          <a:bodyPr anchor="t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  <a:latin typeface="+mj-lt"/>
              </a:rPr>
              <a:t>SNS for pub/sub-meldinger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9"/>
            <p:custDataLst>
              <p:tags r:id="rId8"/>
            </p:custDataLst>
          </p:nvPr>
        </p:nvSpPr>
        <p:spPr>
          <a:xfrm>
            <a:off x="1304544" y="3988394"/>
            <a:ext cx="2377441" cy="1051560"/>
          </a:xfrm>
        </p:spPr>
        <p:txBody>
          <a:bodyPr anchor="t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  <a:latin typeface="+mj-lt"/>
              </a:rPr>
              <a:t>SQS for dekomponering av oppgaver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78047-B10F-BD6D-AF9D-58DD30A86E36}"/>
              </a:ext>
            </a:extLst>
          </p:cNvPr>
          <p:cNvSpPr>
            <a:spLocks noGrp="1"/>
          </p:cNvSpPr>
          <p:nvPr>
            <p:ph sz="half" idx="20"/>
            <p:custDataLst>
              <p:tags r:id="rId9"/>
            </p:custDataLst>
          </p:nvPr>
        </p:nvSpPr>
        <p:spPr>
          <a:xfrm>
            <a:off x="3808073" y="5142849"/>
            <a:ext cx="7774327" cy="105156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AWS Lambda </a:t>
            </a:r>
            <a:r>
              <a:rPr lang="en-US" sz="1400" dirty="0" err="1"/>
              <a:t>muliggjør</a:t>
            </a:r>
            <a:r>
              <a:rPr lang="en-US" sz="1400" dirty="0"/>
              <a:t> </a:t>
            </a:r>
            <a:r>
              <a:rPr lang="en-US" sz="1400" dirty="0" err="1"/>
              <a:t>serverløs</a:t>
            </a:r>
            <a:r>
              <a:rPr lang="en-US" sz="1400" dirty="0"/>
              <a:t> </a:t>
            </a:r>
            <a:r>
              <a:rPr lang="en-US" sz="1400" dirty="0" err="1"/>
              <a:t>databehandling</a:t>
            </a:r>
            <a:r>
              <a:rPr lang="en-US" sz="1400" dirty="0"/>
              <a:t> med </a:t>
            </a:r>
            <a:r>
              <a:rPr lang="en-US" sz="1400" dirty="0" err="1"/>
              <a:t>automatisk</a:t>
            </a:r>
            <a:r>
              <a:rPr lang="en-US" sz="1400" dirty="0"/>
              <a:t> </a:t>
            </a:r>
            <a:r>
              <a:rPr lang="en-US" sz="1400" dirty="0" err="1"/>
              <a:t>skalering</a:t>
            </a:r>
            <a:r>
              <a:rPr lang="en-US" sz="1400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BD0E6-D218-A1EB-6E8E-CC61B22CB9B8}"/>
              </a:ext>
            </a:extLst>
          </p:cNvPr>
          <p:cNvSpPr>
            <a:spLocks noGrp="1"/>
          </p:cNvSpPr>
          <p:nvPr>
            <p:ph type="body" idx="21"/>
            <p:custDataLst>
              <p:tags r:id="rId10"/>
            </p:custDataLst>
          </p:nvPr>
        </p:nvSpPr>
        <p:spPr>
          <a:xfrm>
            <a:off x="1304542" y="5142849"/>
            <a:ext cx="2377441" cy="1054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  <a:latin typeface="+mj-lt"/>
              </a:rPr>
              <a:t>Lambda for skalerbar databehandling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A2F132-D3FD-DF8B-3DF7-1042FD601E0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4182B4-B924-67EF-CDC9-6D2E557D49C0}"/>
              </a:ext>
            </a:extLst>
          </p:cNvPr>
          <p:cNvSpPr txBox="1"/>
          <p:nvPr/>
        </p:nvSpPr>
        <p:spPr>
          <a:xfrm>
            <a:off x="609601" y="1695158"/>
            <a:ext cx="573024" cy="369332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16FD6-F6F8-15A4-0A78-EC89A15406D8}"/>
              </a:ext>
            </a:extLst>
          </p:cNvPr>
          <p:cNvSpPr txBox="1"/>
          <p:nvPr/>
        </p:nvSpPr>
        <p:spPr>
          <a:xfrm>
            <a:off x="609601" y="2833939"/>
            <a:ext cx="573024" cy="369332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91D6E5-0E66-6BDC-C7CF-6F3D5948FC2A}"/>
              </a:ext>
            </a:extLst>
          </p:cNvPr>
          <p:cNvSpPr txBox="1"/>
          <p:nvPr/>
        </p:nvSpPr>
        <p:spPr>
          <a:xfrm>
            <a:off x="609601" y="3988394"/>
            <a:ext cx="573024" cy="369332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BC155B-5DDB-BA89-4DD7-BE6D6180328A}"/>
              </a:ext>
            </a:extLst>
          </p:cNvPr>
          <p:cNvSpPr txBox="1"/>
          <p:nvPr/>
        </p:nvSpPr>
        <p:spPr>
          <a:xfrm>
            <a:off x="609601" y="5142849"/>
            <a:ext cx="573024" cy="369332"/>
          </a:xfrm>
          <a:prstGeom prst="rect">
            <a:avLst/>
          </a:prstGeom>
          <a:noFill/>
        </p:spPr>
        <p:txBody>
          <a:bodyPr wrap="square" rIns="0" rtlCol="0">
            <a:norm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9064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2E93C0-D213-5FB4-223B-AE2AD5F24E54}"/>
              </a:ext>
            </a:extLst>
          </p:cNvPr>
          <p:cNvSpPr/>
          <p:nvPr/>
        </p:nvSpPr>
        <p:spPr>
          <a:xfrm>
            <a:off x="-177" y="-1"/>
            <a:ext cx="40450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A48C6-AA9A-1D09-0830-E327473D9E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Best Practices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0"/>
            <a:ext cx="2946360" cy="5435600"/>
          </a:xfrm>
        </p:spPr>
        <p:txBody>
          <a:bodyPr>
            <a:normAutofit/>
          </a:bodyPr>
          <a:lstStyle/>
          <a:p>
            <a:r>
              <a:rPr lang="en-US"/>
              <a:t>Beste praksis for bruk av SNS, SQS og Lambda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788DD44-AE73-33B6-4635-9B8D5137E60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73779" y="468868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Bruk verktøy som AWS Cost Explorer for å overvåke utgifter. Sett opp varsler for budsjettoverskridelser.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595EC02-957F-FE81-2C9F-5A8C787B445F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773778" y="2474714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/>
              <a:t>Implementer AWS Identity and Access Management (IAM) for å kontrollere hvem som har tilgang til hvilke ressurser.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262DC19F-B03F-FD9C-64D4-837E89CE392B}"/>
              </a:ext>
            </a:extLst>
          </p:cNvPr>
          <p:cNvSpPr>
            <a:spLocks noGrp="1"/>
          </p:cNvSpPr>
          <p:nvPr>
            <p:ph sz="half" idx="13"/>
            <p:custDataLst>
              <p:tags r:id="rId5"/>
            </p:custDataLst>
          </p:nvPr>
        </p:nvSpPr>
        <p:spPr>
          <a:xfrm>
            <a:off x="6773778" y="4480560"/>
            <a:ext cx="4808619" cy="1920240"/>
          </a:xfrm>
        </p:spPr>
        <p:txBody>
          <a:bodyPr vert="horz" lIns="91440" tIns="45720" rIns="91440" bIns="45720" rtlCol="0">
            <a:normAutofit/>
          </a:bodyPr>
          <a:lstStyle/>
          <a:p>
            <a:pPr marL="11113" indent="0">
              <a:lnSpc>
                <a:spcPct val="120000"/>
              </a:lnSpc>
              <a:buNone/>
            </a:pPr>
            <a:r>
              <a:rPr lang="en-US" sz="1500" dirty="0" err="1"/>
              <a:t>Bygg</a:t>
            </a:r>
            <a:r>
              <a:rPr lang="en-US" sz="1500" dirty="0"/>
              <a:t> </a:t>
            </a:r>
            <a:r>
              <a:rPr lang="en-US" sz="1500" dirty="0" err="1"/>
              <a:t>systemer</a:t>
            </a:r>
            <a:r>
              <a:rPr lang="en-US" sz="1500" dirty="0"/>
              <a:t> </a:t>
            </a:r>
            <a:r>
              <a:rPr lang="en-US" sz="1500" dirty="0" err="1"/>
              <a:t>som</a:t>
            </a:r>
            <a:r>
              <a:rPr lang="en-US" sz="1500" dirty="0"/>
              <a:t> </a:t>
            </a:r>
            <a:r>
              <a:rPr lang="en-US" sz="1500" dirty="0" err="1"/>
              <a:t>kan</a:t>
            </a:r>
            <a:r>
              <a:rPr lang="en-US" sz="1500" dirty="0"/>
              <a:t> </a:t>
            </a:r>
            <a:r>
              <a:rPr lang="en-US" sz="1500" dirty="0" err="1"/>
              <a:t>håndtere</a:t>
            </a:r>
            <a:r>
              <a:rPr lang="en-US" sz="1500" dirty="0"/>
              <a:t> </a:t>
            </a:r>
            <a:r>
              <a:rPr lang="en-US" sz="1500" dirty="0" err="1"/>
              <a:t>feil</a:t>
            </a:r>
            <a:r>
              <a:rPr lang="en-US" sz="1500" dirty="0"/>
              <a:t> </a:t>
            </a:r>
            <a:r>
              <a:rPr lang="en-US" sz="1500" dirty="0" err="1"/>
              <a:t>ved</a:t>
            </a:r>
            <a:r>
              <a:rPr lang="en-US" sz="1500" dirty="0"/>
              <a:t> </a:t>
            </a:r>
            <a:r>
              <a:rPr lang="en-US" sz="1500" dirty="0" err="1"/>
              <a:t>å</a:t>
            </a:r>
            <a:r>
              <a:rPr lang="en-US" sz="1500" dirty="0"/>
              <a:t> </a:t>
            </a:r>
            <a:r>
              <a:rPr lang="en-US" sz="1500" dirty="0" err="1"/>
              <a:t>bruke</a:t>
            </a:r>
            <a:r>
              <a:rPr lang="en-US" sz="1500" dirty="0"/>
              <a:t> </a:t>
            </a:r>
            <a:r>
              <a:rPr lang="en-US" sz="1500" dirty="0" err="1"/>
              <a:t>robuste</a:t>
            </a:r>
            <a:r>
              <a:rPr lang="en-US" sz="1500" dirty="0"/>
              <a:t> </a:t>
            </a:r>
            <a:r>
              <a:rPr lang="en-US" sz="1500" dirty="0" err="1"/>
              <a:t>komponenter</a:t>
            </a:r>
            <a:r>
              <a:rPr lang="en-US" sz="1500" dirty="0"/>
              <a:t> </a:t>
            </a:r>
            <a:r>
              <a:rPr lang="en-US" sz="1500" dirty="0" err="1"/>
              <a:t>som</a:t>
            </a:r>
            <a:r>
              <a:rPr lang="en-US" sz="1500" dirty="0"/>
              <a:t> </a:t>
            </a:r>
            <a:r>
              <a:rPr lang="en-US" sz="1500" dirty="0" err="1"/>
              <a:t>f.eks</a:t>
            </a:r>
            <a:r>
              <a:rPr lang="en-US" sz="1500" dirty="0"/>
              <a:t>. SQS.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4"/>
            <p:custDataLst>
              <p:tags r:id="rId6"/>
            </p:custDataLst>
          </p:nvPr>
        </p:nvSpPr>
        <p:spPr>
          <a:xfrm>
            <a:off x="5028112" y="468866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Overvåke og optimalisere kostnader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5"/>
            <p:custDataLst>
              <p:tags r:id="rId7"/>
            </p:custDataLst>
          </p:nvPr>
        </p:nvSpPr>
        <p:spPr>
          <a:xfrm>
            <a:off x="5028112" y="2474714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Utnytte IAM for sikre tillatelser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6"/>
            <p:custDataLst>
              <p:tags r:id="rId8"/>
            </p:custDataLst>
          </p:nvPr>
        </p:nvSpPr>
        <p:spPr>
          <a:xfrm>
            <a:off x="5028112" y="4480560"/>
            <a:ext cx="1652617" cy="1920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9525">
              <a:lnSpc>
                <a:spcPct val="120000"/>
              </a:lnSpc>
            </a:pPr>
            <a:r>
              <a:rPr lang="en-US" sz="1500" b="0">
                <a:latin typeface="+mj-lt"/>
              </a:rPr>
              <a:t>Designe for feiltoleranse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4DFC7-C861-C967-C0CE-7990949D9E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50666-EF2A-25FF-33FB-7652A907C850}"/>
              </a:ext>
            </a:extLst>
          </p:cNvPr>
          <p:cNvSpPr txBox="1"/>
          <p:nvPr/>
        </p:nvSpPr>
        <p:spPr>
          <a:xfrm>
            <a:off x="4217307" y="468866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FBC15-F158-6986-2CDF-05CDE56DD4FB}"/>
              </a:ext>
            </a:extLst>
          </p:cNvPr>
          <p:cNvSpPr txBox="1"/>
          <p:nvPr/>
        </p:nvSpPr>
        <p:spPr>
          <a:xfrm>
            <a:off x="4217307" y="2478140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E883E-9DCA-2FEA-ED38-A301BADB1863}"/>
              </a:ext>
            </a:extLst>
          </p:cNvPr>
          <p:cNvSpPr txBox="1"/>
          <p:nvPr/>
        </p:nvSpPr>
        <p:spPr>
          <a:xfrm>
            <a:off x="4217307" y="4480560"/>
            <a:ext cx="638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>
                <a:solidFill>
                  <a:schemeClr val="accent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3072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HEME" val="background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title"/>
  <p:tag name="PLUS_THEME" val="font_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ate"/>
  <p:tag name="PLUS_THEME" val="font_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_stat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agenda"/>
  <p:tag name="PLUS_THEME" val="font_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liverable_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liverable_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liverable_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liverable_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heme/theme1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A09CAB"/>
      </a:accent2>
      <a:accent3>
        <a:srgbClr val="DBD56E"/>
      </a:accent3>
      <a:accent4>
        <a:srgbClr val="EF233C"/>
      </a:accent4>
      <a:accent5>
        <a:srgbClr val="606C38"/>
      </a:accent5>
      <a:accent6>
        <a:srgbClr val="A3C3B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5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6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65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8E6D742-BFC4-7D4B-AD13-450FE1D1FA9D}">
  <we:reference id="wa200007130" version="1.0.0.1" store="en-GB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1047</Words>
  <Application>Microsoft Macintosh PowerPoint</Application>
  <PresentationFormat>Widescreen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17</vt:i4>
      </vt:variant>
    </vt:vector>
  </HeadingPairs>
  <TitlesOfParts>
    <vt:vector size="37" baseType="lpstr">
      <vt:lpstr>Aptos</vt:lpstr>
      <vt:lpstr>Arial</vt:lpstr>
      <vt:lpstr>Franklin Gothic Book</vt:lpstr>
      <vt:lpstr>Franklin Gothic Medium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Intro til AWS: SNS, SQS og Lambda</vt:lpstr>
      <vt:lpstr>Agenda</vt:lpstr>
      <vt:lpstr>Betydning av skyen i moderne applikasjoner</vt:lpstr>
      <vt:lpstr>Hva er Event-Driven Architecture (EDA)?</vt:lpstr>
      <vt:lpstr>Fordeler med Event-Driven Architecture</vt:lpstr>
      <vt:lpstr>Hva er Amazon SNS?</vt:lpstr>
      <vt:lpstr>SNS-funksjoner og -fordeler</vt:lpstr>
      <vt:lpstr>Hvordan SNS fungerer</vt:lpstr>
      <vt:lpstr>Hva er Amazon SQS?</vt:lpstr>
      <vt:lpstr>Typer av SQS-køer</vt:lpstr>
      <vt:lpstr>Hvordan SQS fungerer</vt:lpstr>
      <vt:lpstr>Hva er AWS Lambda?</vt:lpstr>
      <vt:lpstr>Viktige Lambda-konsepter</vt:lpstr>
      <vt:lpstr>Hvordan Lambda integrerer med SNS og SQS</vt:lpstr>
      <vt:lpstr>Reelle brukstilfeller</vt:lpstr>
      <vt:lpstr>Viktige punkter</vt:lpstr>
      <vt:lpstr>Beste praksis for bruk av SNS, SQS og Lambda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Flått</dc:creator>
  <cp:lastModifiedBy>Andreas Flått</cp:lastModifiedBy>
  <cp:revision>6</cp:revision>
  <dcterms:created xsi:type="dcterms:W3CDTF">2024-12-04T21:11:43Z</dcterms:created>
  <dcterms:modified xsi:type="dcterms:W3CDTF">2026-01-23T14:58:58Z</dcterms:modified>
</cp:coreProperties>
</file>